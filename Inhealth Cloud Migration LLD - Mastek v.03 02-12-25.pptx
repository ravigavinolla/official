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99" r:id="rId4"/>
  </p:sldMasterIdLst>
  <p:notesMasterIdLst>
    <p:notesMasterId r:id="rId31"/>
  </p:notesMasterIdLst>
  <p:handoutMasterIdLst>
    <p:handoutMasterId r:id="rId32"/>
  </p:handoutMasterIdLst>
  <p:sldIdLst>
    <p:sldId id="257" r:id="rId5"/>
    <p:sldId id="2147482285" r:id="rId6"/>
    <p:sldId id="2147482300" r:id="rId7"/>
    <p:sldId id="2147482241" r:id="rId8"/>
    <p:sldId id="2147482244" r:id="rId9"/>
    <p:sldId id="2147482302" r:id="rId10"/>
    <p:sldId id="2147482301" r:id="rId11"/>
    <p:sldId id="2147482310" r:id="rId12"/>
    <p:sldId id="2147482304" r:id="rId13"/>
    <p:sldId id="2147482303" r:id="rId14"/>
    <p:sldId id="2147482245" r:id="rId15"/>
    <p:sldId id="2147482305" r:id="rId16"/>
    <p:sldId id="2147482293" r:id="rId17"/>
    <p:sldId id="2147482275" r:id="rId18"/>
    <p:sldId id="2147482297" r:id="rId19"/>
    <p:sldId id="2147482306" r:id="rId20"/>
    <p:sldId id="2147482307" r:id="rId21"/>
    <p:sldId id="2147482318" r:id="rId22"/>
    <p:sldId id="2147482312" r:id="rId23"/>
    <p:sldId id="2147482314" r:id="rId24"/>
    <p:sldId id="2147482315" r:id="rId25"/>
    <p:sldId id="2147482316" r:id="rId26"/>
    <p:sldId id="2147482317" r:id="rId27"/>
    <p:sldId id="2147482308" r:id="rId28"/>
    <p:sldId id="2147482309" r:id="rId29"/>
    <p:sldId id="2147482224" r:id="rId30"/>
  </p:sldIdLst>
  <p:sldSz cx="12192000" cy="6858000"/>
  <p:notesSz cx="6858000" cy="9144000"/>
  <p:embeddedFontLst>
    <p:embeddedFont>
      <p:font typeface="Titillium Web" panose="020B0604020202020204" charset="0"/>
      <p:regular r:id="rId33"/>
      <p:bold r:id="rId34"/>
      <p:italic r:id="rId35"/>
      <p:boldItalic r:id="rId36"/>
    </p:embeddedFont>
    <p:embeddedFont>
      <p:font typeface="Trebuchet MS" panose="020B0603020202020204" pitchFamily="34" charset="0"/>
      <p:regular r:id="rId37"/>
      <p:bold r:id="rId38"/>
      <p:italic r:id="rId39"/>
      <p:boldItalic r:id="rId40"/>
    </p:embeddedFont>
    <p:embeddedFont>
      <p:font typeface="Ubuntu" panose="020B060402020202020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2341" userDrawn="1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8220"/>
    <a:srgbClr val="FE7B3F"/>
    <a:srgbClr val="2B0A3D"/>
    <a:srgbClr val="636569"/>
    <a:srgbClr val="7BADD3"/>
    <a:srgbClr val="A6A6A6"/>
    <a:srgbClr val="FFDA80"/>
    <a:srgbClr val="57CF80"/>
    <a:srgbClr val="12A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07366-E877-4616-B900-E2AFD31EE8D1}" v="9" dt="2025-12-02T14:21:26.510"/>
    <p1510:client id="{285B1E6D-B72B-48BE-90C4-722AA686F1A8}" v="659" dt="2025-12-02T14:12:07.045"/>
    <p1510:client id="{434A28DB-21E0-36F1-023D-BAE8615B88AD}" v="47" dt="2025-12-02T13:24:22.432"/>
    <p1510:client id="{D303A57D-7C05-F7FB-4F81-43A0A24B8E8E}" v="345" dt="2025-12-02T13:58:26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341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deji Odedele" userId="ee58ab9e-ce38-4d64-b400-32f3e977d3c2" providerId="ADAL" clId="{AD2DB4E9-240D-49E6-AEFB-E07350CD9679}"/>
    <pc:docChg chg="modSld">
      <pc:chgData name="Oladeji Odedele" userId="ee58ab9e-ce38-4d64-b400-32f3e977d3c2" providerId="ADAL" clId="{AD2DB4E9-240D-49E6-AEFB-E07350CD9679}" dt="2025-12-02T14:21:26.510" v="8" actId="20577"/>
      <pc:docMkLst>
        <pc:docMk/>
      </pc:docMkLst>
      <pc:sldChg chg="addSp modSp mod">
        <pc:chgData name="Oladeji Odedele" userId="ee58ab9e-ce38-4d64-b400-32f3e977d3c2" providerId="ADAL" clId="{AD2DB4E9-240D-49E6-AEFB-E07350CD9679}" dt="2025-12-02T14:21:26.510" v="8" actId="20577"/>
        <pc:sldMkLst>
          <pc:docMk/>
          <pc:sldMk cId="3486927900" sldId="2147482300"/>
        </pc:sldMkLst>
        <pc:spChg chg="mod">
          <ac:chgData name="Oladeji Odedele" userId="ee58ab9e-ce38-4d64-b400-32f3e977d3c2" providerId="ADAL" clId="{AD2DB4E9-240D-49E6-AEFB-E07350CD9679}" dt="2025-12-02T14:21:04.106" v="0"/>
          <ac:spMkLst>
            <pc:docMk/>
            <pc:sldMk cId="3486927900" sldId="2147482300"/>
            <ac:spMk id="8" creationId="{C5B38DF3-53AA-3108-3EA8-DEED695F065A}"/>
          </ac:spMkLst>
        </pc:spChg>
        <pc:spChg chg="mod">
          <ac:chgData name="Oladeji Odedele" userId="ee58ab9e-ce38-4d64-b400-32f3e977d3c2" providerId="ADAL" clId="{AD2DB4E9-240D-49E6-AEFB-E07350CD9679}" dt="2025-12-02T14:21:12.279" v="3" actId="20577"/>
          <ac:spMkLst>
            <pc:docMk/>
            <pc:sldMk cId="3486927900" sldId="2147482300"/>
            <ac:spMk id="15" creationId="{92CF16F7-78C2-59A5-8D61-2BF56449F7D7}"/>
          </ac:spMkLst>
        </pc:spChg>
        <pc:spChg chg="add mod">
          <ac:chgData name="Oladeji Odedele" userId="ee58ab9e-ce38-4d64-b400-32f3e977d3c2" providerId="ADAL" clId="{AD2DB4E9-240D-49E6-AEFB-E07350CD9679}" dt="2025-12-02T14:21:26.510" v="8" actId="20577"/>
          <ac:spMkLst>
            <pc:docMk/>
            <pc:sldMk cId="3486927900" sldId="2147482300"/>
            <ac:spMk id="27" creationId="{5133D548-BF0B-42DF-4007-ECF9573869F9}"/>
          </ac:spMkLst>
        </pc:spChg>
        <pc:grpChg chg="add mod">
          <ac:chgData name="Oladeji Odedele" userId="ee58ab9e-ce38-4d64-b400-32f3e977d3c2" providerId="ADAL" clId="{AD2DB4E9-240D-49E6-AEFB-E07350CD9679}" dt="2025-12-02T14:21:09.405" v="1" actId="1076"/>
          <ac:grpSpMkLst>
            <pc:docMk/>
            <pc:sldMk cId="3486927900" sldId="2147482300"/>
            <ac:grpSpMk id="7" creationId="{BCE164DB-AACF-EC75-90D2-3F8B9B1A3B1A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 smtClean="0"/>
              <a:pPr/>
              <a:t>02/12/2025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 smtClean="0"/>
              <a:pPr/>
              <a:t>‹#›</a:t>
            </a:fld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02/12/2025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Insert comments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60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0CC2E3-498F-4454-B69C-79CD1F9B098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89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600" b="0" kern="1200">
              <a:solidFill>
                <a:schemeClr val="tx1"/>
              </a:solidFill>
              <a:effectLst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569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171F-0363-C8CD-232B-79C44FC1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F38ED-65F9-C16F-C4A2-04FBD6C38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5EBA9-5B91-8E63-36FE-B1F471F99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600" b="0" kern="1200">
              <a:solidFill>
                <a:schemeClr val="tx1"/>
              </a:solidFill>
              <a:effectLst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247B0-41CD-12A8-2084-C4B7598AC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610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489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8856-C446-1992-9C63-51FE7DF08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09CAE-86A1-C840-7803-9F8EEC209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7CD08-9AF3-B436-6CBE-25697FD88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5BDA7-2EC8-3766-FA3E-5FE50D477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027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4A36-8B3B-9623-9CD4-5C8D091C0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3D28A-742D-B99B-89FD-4D105DD60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9BC02-6D06-6C2E-5C70-D90516D84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3F80F-8FD7-310A-AD48-3652E3ACF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186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D9B1-F785-A8F3-EEE7-89C3A790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56B58-4F1D-1C6A-C13A-B6C841219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5A4F8-958D-797D-FEB1-9D9115966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398AE-AC5D-ECC8-BCB1-206F1571A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705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A4A0-1FC6-F19D-1819-B26BE19F4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01D7F-3B29-E74F-E156-AFC890BA4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9AAFF-60F6-D4C3-2BB2-9BF191B84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latin typeface="Aptos"/>
              </a:rPr>
              <a:t>Aligning Reliability, Performance and Cost Efficiency</a:t>
            </a:r>
            <a:endParaRPr lang="en-GB" sz="700">
              <a:latin typeface="Aptos"/>
            </a:endParaRPr>
          </a:p>
          <a:p>
            <a:endParaRPr lang="en-US" b="1"/>
          </a:p>
          <a:p>
            <a:r>
              <a:rPr lang="en-US" b="1"/>
              <a:t>Key Points: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700">
                <a:latin typeface="Aptos"/>
              </a:rPr>
              <a:t>Right size – Collect baseline data - Use AWS Compute Optimizer for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700">
                <a:latin typeface="Aptos"/>
              </a:rPr>
              <a:t>Validate – Pilot workloads, simulate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700">
                <a:latin typeface="Aptos"/>
              </a:rPr>
              <a:t>Run for 4-6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700">
                <a:latin typeface="Aptos"/>
              </a:rPr>
              <a:t>Optimise – Refine sizing post-migration</a:t>
            </a:r>
          </a:p>
          <a:p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00">
                <a:latin typeface="Aptos"/>
              </a:rPr>
              <a:t>Evidence-driven, continuous, and transparent </a:t>
            </a:r>
            <a:r>
              <a:rPr lang="en-US" sz="800" err="1">
                <a:latin typeface="Aptos"/>
              </a:rPr>
              <a:t>optimisation</a:t>
            </a:r>
            <a:endParaRPr lang="en-US" sz="80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800">
                <a:latin typeface="Aptos"/>
              </a:rPr>
              <a:t>Delivering performance and value through intelligent right-sizing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10CF5-020F-17D1-1066-2D62FFAB5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334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1F4B-A678-F10B-7D34-CF946CF57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3B2E2-6B6C-4840-A30F-96EDDC2D6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54D58-A74D-A634-05A5-7A9D058D4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8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C315E-78E6-E7D2-1AE3-2998BF869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180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1FDCF-BA67-DB15-06A2-9CD283D00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098A1-174D-FD56-5A6C-19FC7EB4E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9C229-8C3F-D934-C40A-5607890B1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A9C4F-2E63-2867-3CD7-6034B7E88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314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1468-D275-1F67-B263-DF70281C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F9B22-F360-660F-2F09-F1F85DED9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4895C-6D48-9ACC-8559-44C11AC66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8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3D337-C5D9-7036-A430-F0E29E104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49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AD37-01CB-434C-0A32-17E3C6000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2D3CE-A1C7-1643-016C-36FA69664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2EB3A-59C6-CC2F-2CE7-9800EF7D7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8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255D3-86DC-FC86-6CA4-B6247D2EB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527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4A92-D3D1-2752-747E-32C8B753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3AD2B-1836-F484-7B75-98524E0C5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2B355-F937-F96F-10B2-5C5EA5BC6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it comes to Disaster Recovery and Backup, we’ve followed a clear, structured framework to determine the </a:t>
            </a:r>
            <a:r>
              <a:rPr lang="en-US" i="1"/>
              <a:t>best-fit</a:t>
            </a:r>
            <a:r>
              <a:rPr lang="en-US"/>
              <a:t> solution for Thurrock.</a:t>
            </a:r>
          </a:p>
          <a:p>
            <a:endParaRPr lang="en-US"/>
          </a:p>
          <a:p>
            <a:r>
              <a:rPr lang="en-US"/>
              <a:t>We began by assessing technical, operational, and compliance needs including UK data residency, immutability, and encryption and then evaluated your existing solution (Veeam) and AWS Backup options</a:t>
            </a:r>
          </a:p>
          <a:p>
            <a:endParaRPr lang="en-US"/>
          </a:p>
          <a:p>
            <a:r>
              <a:rPr lang="en-US"/>
              <a:t>The next slide shows a comparison table: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FB318-7379-0A76-330A-887FD6005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98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BB40-A0EE-0AA4-587B-4CCBAB4A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2AED7-64AF-8957-50FC-22B66E12B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90B32-F3BA-2AE1-2DB2-57D9D7996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Visuals:</a:t>
            </a:r>
            <a:endParaRPr lang="en-US"/>
          </a:p>
          <a:p>
            <a:r>
              <a:rPr lang="en-US"/>
              <a:t>Power BI dashboard mock-up</a:t>
            </a:r>
          </a:p>
          <a:p>
            <a:r>
              <a:rPr lang="en-US"/>
              <a:t>CUR integration view (spend by department, anomaly alerts)</a:t>
            </a:r>
          </a:p>
          <a:p>
            <a:r>
              <a:rPr lang="en-US" b="1"/>
              <a:t>Speaker:</a:t>
            </a:r>
            <a:r>
              <a:rPr lang="en-US"/>
              <a:t> Omkar</a:t>
            </a:r>
            <a:br>
              <a:rPr lang="en-US"/>
            </a:br>
            <a:r>
              <a:rPr lang="en-US" b="1"/>
              <a:t>Key Points:</a:t>
            </a:r>
            <a:endParaRPr lang="en-US"/>
          </a:p>
          <a:p>
            <a:r>
              <a:rPr lang="en-US"/>
              <a:t>Real-time spend visibility</a:t>
            </a:r>
          </a:p>
          <a:p>
            <a:r>
              <a:rPr lang="en-US"/>
              <a:t>Forecasting &amp; anomaly detection</a:t>
            </a:r>
          </a:p>
          <a:p>
            <a:r>
              <a:rPr lang="en-US"/>
              <a:t>Chargeback/</a:t>
            </a:r>
            <a:r>
              <a:rPr lang="en-US" err="1"/>
              <a:t>showback</a:t>
            </a:r>
            <a:r>
              <a:rPr lang="en-US"/>
              <a:t> models for transparency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3BF71-538F-E0DB-5014-E9543D379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9991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ACDF8-C77C-ACD0-E8AE-61C8F0E32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C6CB4-BB74-8992-AB85-BC73364ED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43F8E-40B6-9199-E266-3360FDB07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Our partnership with Thurrock doesn’t end at go-live.</a:t>
            </a:r>
          </a:p>
          <a:p>
            <a:endParaRPr lang="en-US"/>
          </a:p>
          <a:p>
            <a:r>
              <a:rPr lang="en-US"/>
              <a:t>This final piece is about how Mastek ensures sustained value long after migration.</a:t>
            </a:r>
          </a:p>
          <a:p>
            <a:endParaRPr lang="en-US"/>
          </a:p>
          <a:p>
            <a:r>
              <a:rPr lang="en-US"/>
              <a:t>Through what we call the </a:t>
            </a:r>
            <a:r>
              <a:rPr lang="en-US" i="1"/>
              <a:t>Thurrock Cloud Value Hub</a:t>
            </a:r>
            <a:r>
              <a:rPr lang="en-US"/>
              <a:t>, we bring together automation, FinOps excellence, training, AI enablement.  </a:t>
            </a:r>
          </a:p>
          <a:p>
            <a:endParaRPr lang="en-US"/>
          </a:p>
          <a:p>
            <a:r>
              <a:rPr lang="en-US"/>
              <a:t>We embed automation, cost visibility, and skills transfer into everything we deliver ensuring your team remains in control, your platform stays optimised, and your costs stay predictable.</a:t>
            </a:r>
          </a:p>
          <a:p>
            <a:endParaRPr lang="en-US"/>
          </a:p>
          <a:p>
            <a:r>
              <a:rPr lang="en-US"/>
              <a:t>Whether it’s leveraging AWS programs (like OGVA, MAP, and OLA), integrating GenAI, or simply making sure your workloads stay right-sized and cost-efficient, we’re committed to ensuring Thurrock’s cloud continues to evolve delivering lasting value.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🚫 Avoiding Vendor Lock-In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Multi-cloud ready architectures and open-source tooling for portability.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🧩 Ongoing Support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3 days/month post-migration support for incidents, optimisation, and coaching. Collaboration with </a:t>
            </a:r>
            <a:r>
              <a:rPr lang="en-US" sz="600" b="1"/>
              <a:t>AWS Enterprise Support</a:t>
            </a:r>
            <a:r>
              <a:rPr lang="en-US" sz="600"/>
              <a:t> and </a:t>
            </a:r>
            <a:r>
              <a:rPr lang="en-US" sz="600" b="1"/>
              <a:t>Technical Account Managers (TAMs)</a:t>
            </a:r>
            <a:r>
              <a:rPr lang="en-US" sz="6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/>
          </a:p>
          <a:p>
            <a:pPr>
              <a:buNone/>
            </a:pPr>
            <a:r>
              <a:rPr lang="en-US" sz="600" b="1"/>
              <a:t>💰 FinOps Excellence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Power BI dashboards integrating AWS CUR and Cost Explorer for transparency. Ongoing monthly optimisation reviews to avoid stranded costs.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==================================================================================================</a:t>
            </a:r>
          </a:p>
          <a:p>
            <a:pPr>
              <a:buNone/>
            </a:pPr>
            <a:r>
              <a:rPr lang="en-US" sz="800" b="1"/>
              <a:t>🔁 Automation &amp; Optimisation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Automated provisioning, patching, and scaling using Terraform &amp; AWS SSM. Continuous rightsizing and performance tuning to minimise waste.</a:t>
            </a:r>
          </a:p>
          <a:p>
            <a:pPr>
              <a:buNone/>
            </a:pPr>
            <a:r>
              <a:rPr lang="en-US" sz="800" b="1"/>
              <a:t>🧠 GenAI Enablement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Identify use cases (service desk, citizen portals, document automation) leveraging AWS Bedrock and Q.</a:t>
            </a:r>
          </a:p>
          <a:p>
            <a:pPr>
              <a:buNone/>
            </a:pPr>
            <a:r>
              <a:rPr lang="en-US" sz="800" b="1"/>
              <a:t>📊 Governance &amp; Reporting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Executive dashboards showing cost, performance, security posture, and compliance trends.</a:t>
            </a:r>
          </a:p>
          <a:p>
            <a:pPr>
              <a:buNone/>
            </a:pPr>
            <a:r>
              <a:rPr lang="en-US" sz="800" b="1"/>
              <a:t>🧩 Ongoing Support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3 days/month post-migration support for incidents, optimisation, and coaching. Collaboration with </a:t>
            </a:r>
            <a:r>
              <a:rPr lang="en-US" sz="800" b="1"/>
              <a:t>AWS Enterprise Support</a:t>
            </a:r>
            <a:r>
              <a:rPr lang="en-US" sz="800"/>
              <a:t> and </a:t>
            </a:r>
            <a:r>
              <a:rPr lang="en-US" sz="800" b="1"/>
              <a:t>Technical Account Managers (TAMs)</a:t>
            </a:r>
            <a:r>
              <a:rPr lang="en-US" sz="800"/>
              <a:t>.</a:t>
            </a:r>
          </a:p>
          <a:p>
            <a:pPr>
              <a:buNone/>
            </a:pPr>
            <a:r>
              <a:rPr lang="en-US" sz="800" b="1"/>
              <a:t>📜 Funding &amp; Frameworks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Leverage </a:t>
            </a:r>
            <a:r>
              <a:rPr lang="en-US" sz="800" b="1"/>
              <a:t>OLA</a:t>
            </a:r>
            <a:r>
              <a:rPr lang="en-US" sz="800"/>
              <a:t>, </a:t>
            </a:r>
            <a:r>
              <a:rPr lang="en-US" sz="800" b="1"/>
              <a:t>OGVA</a:t>
            </a:r>
            <a:r>
              <a:rPr lang="en-US" sz="800"/>
              <a:t>, and </a:t>
            </a:r>
            <a:r>
              <a:rPr lang="en-US" sz="800" b="1"/>
              <a:t>MAP</a:t>
            </a:r>
            <a:r>
              <a:rPr lang="en-US" sz="800"/>
              <a:t> to unlock AWS credits, rebates, and migration funding.</a:t>
            </a:r>
          </a:p>
          <a:p>
            <a:pPr>
              <a:buNone/>
            </a:pPr>
            <a:r>
              <a:rPr lang="en-US" sz="800" b="1"/>
              <a:t>💰 FinOps Excellence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Power BI dashboards integrating AWS CUR and Cost Explorer for transparency. Ongoing monthly optimisation reviews to avoid stranded costs.</a:t>
            </a:r>
          </a:p>
          <a:p>
            <a:pPr>
              <a:buNone/>
            </a:pPr>
            <a:r>
              <a:rPr lang="en-US" sz="800" b="1"/>
              <a:t>🎓 Training &amp; Knowledge Transfer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Hands-on upskilling for Thurrock’s ICT team through shadowing, KT sessions, and self-paced labs.</a:t>
            </a:r>
          </a:p>
          <a:p>
            <a:pPr>
              <a:buNone/>
            </a:pPr>
            <a:r>
              <a:rPr lang="en-US" sz="800" b="1"/>
              <a:t>🚫 Avoiding Vendor Lock-In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Multi-cloud ready architectures and open-source tooling for portability.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33956-6288-6595-D805-96C3D0DE6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214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0DF5-57F7-1AC2-D0C3-65185F16D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CD1C2-FA8A-23DB-F8B6-E614C3EA5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88DB9-0573-0960-40DD-91B4391D8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219D1-4CF0-7F5E-47F8-DADEDED90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442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0FC9-5CE4-A537-6716-0429F308C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328F7-9DAF-FFF1-464D-045BDB03B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97361-4D1D-6F2B-416D-C9348FC98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Our partnership with Thurrock doesn’t end at go-live.</a:t>
            </a:r>
          </a:p>
          <a:p>
            <a:endParaRPr lang="en-US"/>
          </a:p>
          <a:p>
            <a:r>
              <a:rPr lang="en-US"/>
              <a:t>This final piece is about how Mastek ensures sustained value long after migration.</a:t>
            </a:r>
          </a:p>
          <a:p>
            <a:endParaRPr lang="en-US"/>
          </a:p>
          <a:p>
            <a:r>
              <a:rPr lang="en-US"/>
              <a:t>Through what we call the </a:t>
            </a:r>
            <a:r>
              <a:rPr lang="en-US" i="1"/>
              <a:t>Thurrock Cloud Value Hub</a:t>
            </a:r>
            <a:r>
              <a:rPr lang="en-US"/>
              <a:t>, we bring together automation, FinOps excellence, training, AI enablement.  </a:t>
            </a:r>
          </a:p>
          <a:p>
            <a:endParaRPr lang="en-US"/>
          </a:p>
          <a:p>
            <a:r>
              <a:rPr lang="en-US"/>
              <a:t>We embed automation, cost visibility, and skills transfer into everything we deliver ensuring your team remains in control, your platform stays optimised, and your costs stay predictable.</a:t>
            </a:r>
          </a:p>
          <a:p>
            <a:endParaRPr lang="en-US"/>
          </a:p>
          <a:p>
            <a:r>
              <a:rPr lang="en-US"/>
              <a:t>Whether it’s leveraging AWS programs (like OGVA, MAP, and OLA), integrating GenAI, or simply making sure your workloads stay right-sized and cost-efficient, we’re committed to ensuring Thurrock’s cloud continues to evolve delivering lasting value.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🚫 Avoiding Vendor Lock-In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Multi-cloud ready architectures and open-source tooling for portability.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🧩 Ongoing Support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3 days/month post-migration support for incidents, optimisation, and coaching. Collaboration with </a:t>
            </a:r>
            <a:r>
              <a:rPr lang="en-US" sz="600" b="1"/>
              <a:t>AWS Enterprise Support</a:t>
            </a:r>
            <a:r>
              <a:rPr lang="en-US" sz="600"/>
              <a:t> and </a:t>
            </a:r>
            <a:r>
              <a:rPr lang="en-US" sz="600" b="1"/>
              <a:t>Technical Account Managers (TAMs)</a:t>
            </a:r>
            <a:r>
              <a:rPr lang="en-US" sz="6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/>
          </a:p>
          <a:p>
            <a:pPr>
              <a:buNone/>
            </a:pPr>
            <a:r>
              <a:rPr lang="en-US" sz="600" b="1"/>
              <a:t>💰 FinOps Excellence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Power BI dashboards integrating AWS CUR and Cost Explorer for transparency. Ongoing monthly optimisation reviews to avoid stranded costs.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==================================================================================================</a:t>
            </a:r>
          </a:p>
          <a:p>
            <a:pPr>
              <a:buNone/>
            </a:pPr>
            <a:r>
              <a:rPr lang="en-US" sz="800" b="1"/>
              <a:t>🔁 Automation &amp; Optimisation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Automated provisioning, patching, and scaling using Terraform &amp; AWS SSM. Continuous rightsizing and performance tuning to minimise waste.</a:t>
            </a:r>
          </a:p>
          <a:p>
            <a:pPr>
              <a:buNone/>
            </a:pPr>
            <a:r>
              <a:rPr lang="en-US" sz="800" b="1"/>
              <a:t>🧠 GenAI Enablement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Identify use cases (service desk, citizen portals, document automation) leveraging AWS Bedrock and Q.</a:t>
            </a:r>
          </a:p>
          <a:p>
            <a:pPr>
              <a:buNone/>
            </a:pPr>
            <a:r>
              <a:rPr lang="en-US" sz="800" b="1"/>
              <a:t>📊 Governance &amp; Reporting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Executive dashboards showing cost, performance, security posture, and compliance trends.</a:t>
            </a:r>
          </a:p>
          <a:p>
            <a:pPr>
              <a:buNone/>
            </a:pPr>
            <a:r>
              <a:rPr lang="en-US" sz="800" b="1"/>
              <a:t>🧩 Ongoing Support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3 days/month post-migration support for incidents, optimisation, and coaching. Collaboration with </a:t>
            </a:r>
            <a:r>
              <a:rPr lang="en-US" sz="800" b="1"/>
              <a:t>AWS Enterprise Support</a:t>
            </a:r>
            <a:r>
              <a:rPr lang="en-US" sz="800"/>
              <a:t> and </a:t>
            </a:r>
            <a:r>
              <a:rPr lang="en-US" sz="800" b="1"/>
              <a:t>Technical Account Managers (TAMs)</a:t>
            </a:r>
            <a:r>
              <a:rPr lang="en-US" sz="800"/>
              <a:t>.</a:t>
            </a:r>
          </a:p>
          <a:p>
            <a:pPr>
              <a:buNone/>
            </a:pPr>
            <a:r>
              <a:rPr lang="en-US" sz="800" b="1"/>
              <a:t>📜 Funding &amp; Frameworks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Leverage </a:t>
            </a:r>
            <a:r>
              <a:rPr lang="en-US" sz="800" b="1"/>
              <a:t>OLA</a:t>
            </a:r>
            <a:r>
              <a:rPr lang="en-US" sz="800"/>
              <a:t>, </a:t>
            </a:r>
            <a:r>
              <a:rPr lang="en-US" sz="800" b="1"/>
              <a:t>OGVA</a:t>
            </a:r>
            <a:r>
              <a:rPr lang="en-US" sz="800"/>
              <a:t>, and </a:t>
            </a:r>
            <a:r>
              <a:rPr lang="en-US" sz="800" b="1"/>
              <a:t>MAP</a:t>
            </a:r>
            <a:r>
              <a:rPr lang="en-US" sz="800"/>
              <a:t> to unlock AWS credits, rebates, and migration funding.</a:t>
            </a:r>
          </a:p>
          <a:p>
            <a:pPr>
              <a:buNone/>
            </a:pPr>
            <a:r>
              <a:rPr lang="en-US" sz="800" b="1"/>
              <a:t>💰 FinOps Excellence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Power BI dashboards integrating AWS CUR and Cost Explorer for transparency. Ongoing monthly optimisation reviews to avoid stranded costs.</a:t>
            </a:r>
          </a:p>
          <a:p>
            <a:pPr>
              <a:buNone/>
            </a:pPr>
            <a:r>
              <a:rPr lang="en-US" sz="800" b="1"/>
              <a:t>🎓 Training &amp; Knowledge Transfer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Hands-on upskilling for Thurrock’s ICT team through shadowing, KT sessions, and self-paced labs.</a:t>
            </a:r>
          </a:p>
          <a:p>
            <a:pPr>
              <a:buNone/>
            </a:pPr>
            <a:r>
              <a:rPr lang="en-US" sz="800" b="1"/>
              <a:t>🚫 Avoiding Vendor Lock-In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Multi-cloud ready architectures and open-source tooling for portability.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C261E-0299-C7BF-427B-97E58F8CC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158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D56A3-3F1D-3B2F-444A-CFBFF3B69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093C5-E06B-2932-AB89-45AB5AD96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641DE-6561-6980-C7AC-5F7B3F197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02AFF-AEE2-CB64-4F58-354E8B842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013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ABDE-0C95-063F-F641-0F7CB60FA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57328-0129-1A6E-4FB5-42B6C281C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428FF-49AC-B80C-3D88-EE634BB81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Our partnership with Thurrock doesn’t end at go-live.</a:t>
            </a:r>
          </a:p>
          <a:p>
            <a:endParaRPr lang="en-US"/>
          </a:p>
          <a:p>
            <a:r>
              <a:rPr lang="en-US"/>
              <a:t>This final piece is about how Mastek ensures sustained value long after migration.</a:t>
            </a:r>
          </a:p>
          <a:p>
            <a:endParaRPr lang="en-US"/>
          </a:p>
          <a:p>
            <a:r>
              <a:rPr lang="en-US"/>
              <a:t>Through what we call the </a:t>
            </a:r>
            <a:r>
              <a:rPr lang="en-US" i="1"/>
              <a:t>Thurrock Cloud Value Hub</a:t>
            </a:r>
            <a:r>
              <a:rPr lang="en-US"/>
              <a:t>, we bring together automation, FinOps excellence, training, AI enablement.  </a:t>
            </a:r>
          </a:p>
          <a:p>
            <a:endParaRPr lang="en-US"/>
          </a:p>
          <a:p>
            <a:r>
              <a:rPr lang="en-US"/>
              <a:t>We embed automation, cost visibility, and skills transfer into everything we deliver ensuring your team remains in control, your platform stays optimised, and your costs stay predictable.</a:t>
            </a:r>
          </a:p>
          <a:p>
            <a:endParaRPr lang="en-US"/>
          </a:p>
          <a:p>
            <a:r>
              <a:rPr lang="en-US"/>
              <a:t>Whether it’s leveraging AWS programs (like OGVA, MAP, and OLA), integrating GenAI, or simply making sure your workloads stay right-sized and cost-efficient, we’re committed to ensuring Thurrock’s cloud continues to evolve delivering lasting value.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🚫 Avoiding Vendor Lock-In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Multi-cloud ready architectures and open-source tooling for portability.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🧩 Ongoing Support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3 days/month post-migration support for incidents, optimisation, and coaching. Collaboration with </a:t>
            </a:r>
            <a:r>
              <a:rPr lang="en-US" sz="600" b="1"/>
              <a:t>AWS Enterprise Support</a:t>
            </a:r>
            <a:r>
              <a:rPr lang="en-US" sz="600"/>
              <a:t> and </a:t>
            </a:r>
            <a:r>
              <a:rPr lang="en-US" sz="600" b="1"/>
              <a:t>Technical Account Managers (TAMs)</a:t>
            </a:r>
            <a:r>
              <a:rPr lang="en-US" sz="6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/>
          </a:p>
          <a:p>
            <a:pPr>
              <a:buNone/>
            </a:pPr>
            <a:r>
              <a:rPr lang="en-US" sz="600" b="1"/>
              <a:t>💰 FinOps Excellence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Power BI dashboards integrating AWS CUR and Cost Explorer for transparency. Ongoing monthly optimisation reviews to avoid stranded costs.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==================================================================================================</a:t>
            </a:r>
          </a:p>
          <a:p>
            <a:pPr>
              <a:buNone/>
            </a:pPr>
            <a:r>
              <a:rPr lang="en-US" sz="800" b="1"/>
              <a:t>🔁 Automation &amp; Optimisation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Automated provisioning, patching, and scaling using Terraform &amp; AWS SSM. Continuous rightsizing and performance tuning to minimise waste.</a:t>
            </a:r>
          </a:p>
          <a:p>
            <a:pPr>
              <a:buNone/>
            </a:pPr>
            <a:r>
              <a:rPr lang="en-US" sz="800" b="1"/>
              <a:t>🧠 GenAI Enablement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Identify use cases (service desk, citizen portals, document automation) leveraging AWS Bedrock and Q.</a:t>
            </a:r>
          </a:p>
          <a:p>
            <a:pPr>
              <a:buNone/>
            </a:pPr>
            <a:r>
              <a:rPr lang="en-US" sz="800" b="1"/>
              <a:t>📊 Governance &amp; Reporting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Executive dashboards showing cost, performance, security posture, and compliance trends.</a:t>
            </a:r>
          </a:p>
          <a:p>
            <a:pPr>
              <a:buNone/>
            </a:pPr>
            <a:r>
              <a:rPr lang="en-US" sz="800" b="1"/>
              <a:t>🧩 Ongoing Support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3 days/month post-migration support for incidents, optimisation, and coaching. Collaboration with </a:t>
            </a:r>
            <a:r>
              <a:rPr lang="en-US" sz="800" b="1"/>
              <a:t>AWS Enterprise Support</a:t>
            </a:r>
            <a:r>
              <a:rPr lang="en-US" sz="800"/>
              <a:t> and </a:t>
            </a:r>
            <a:r>
              <a:rPr lang="en-US" sz="800" b="1"/>
              <a:t>Technical Account Managers (TAMs)</a:t>
            </a:r>
            <a:r>
              <a:rPr lang="en-US" sz="800"/>
              <a:t>.</a:t>
            </a:r>
          </a:p>
          <a:p>
            <a:pPr>
              <a:buNone/>
            </a:pPr>
            <a:r>
              <a:rPr lang="en-US" sz="800" b="1"/>
              <a:t>📜 Funding &amp; Frameworks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Leverage </a:t>
            </a:r>
            <a:r>
              <a:rPr lang="en-US" sz="800" b="1"/>
              <a:t>OLA</a:t>
            </a:r>
            <a:r>
              <a:rPr lang="en-US" sz="800"/>
              <a:t>, </a:t>
            </a:r>
            <a:r>
              <a:rPr lang="en-US" sz="800" b="1"/>
              <a:t>OGVA</a:t>
            </a:r>
            <a:r>
              <a:rPr lang="en-US" sz="800"/>
              <a:t>, and </a:t>
            </a:r>
            <a:r>
              <a:rPr lang="en-US" sz="800" b="1"/>
              <a:t>MAP</a:t>
            </a:r>
            <a:r>
              <a:rPr lang="en-US" sz="800"/>
              <a:t> to unlock AWS credits, rebates, and migration funding.</a:t>
            </a:r>
          </a:p>
          <a:p>
            <a:pPr>
              <a:buNone/>
            </a:pPr>
            <a:r>
              <a:rPr lang="en-US" sz="800" b="1"/>
              <a:t>💰 FinOps Excellence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Power BI dashboards integrating AWS CUR and Cost Explorer for transparency. Ongoing monthly optimisation reviews to avoid stranded costs.</a:t>
            </a:r>
          </a:p>
          <a:p>
            <a:pPr>
              <a:buNone/>
            </a:pPr>
            <a:r>
              <a:rPr lang="en-US" sz="800" b="1"/>
              <a:t>🎓 Training &amp; Knowledge Transfer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Hands-on upskilling for Thurrock’s ICT team through shadowing, KT sessions, and self-paced labs.</a:t>
            </a:r>
          </a:p>
          <a:p>
            <a:pPr>
              <a:buNone/>
            </a:pPr>
            <a:r>
              <a:rPr lang="en-US" sz="800" b="1"/>
              <a:t>🚫 Avoiding Vendor Lock-In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Multi-cloud ready architectures and open-source tooling for portability.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5EFC0-8902-68BF-B0D2-5E228C305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651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F10D-1E72-320F-3CB3-3B1F6F3B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E5811-C934-E42C-DDE7-DD54A0031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0A369-CAEB-A2BE-91C7-8A3526881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Our partnership with Thurrock doesn’t end at go-live.</a:t>
            </a:r>
          </a:p>
          <a:p>
            <a:endParaRPr lang="en-US"/>
          </a:p>
          <a:p>
            <a:r>
              <a:rPr lang="en-US"/>
              <a:t>This final piece is about how Mastek ensures sustained value long after migration.</a:t>
            </a:r>
          </a:p>
          <a:p>
            <a:endParaRPr lang="en-US"/>
          </a:p>
          <a:p>
            <a:r>
              <a:rPr lang="en-US"/>
              <a:t>Through what we call the </a:t>
            </a:r>
            <a:r>
              <a:rPr lang="en-US" i="1"/>
              <a:t>Thurrock Cloud Value Hub</a:t>
            </a:r>
            <a:r>
              <a:rPr lang="en-US"/>
              <a:t>, we bring together automation, FinOps excellence, training, AI enablement.  </a:t>
            </a:r>
          </a:p>
          <a:p>
            <a:endParaRPr lang="en-US"/>
          </a:p>
          <a:p>
            <a:r>
              <a:rPr lang="en-US"/>
              <a:t>We embed automation, cost visibility, and skills transfer into everything we deliver ensuring your team remains in control, your platform stays optimised, and your costs stay predictable.</a:t>
            </a:r>
          </a:p>
          <a:p>
            <a:endParaRPr lang="en-US"/>
          </a:p>
          <a:p>
            <a:r>
              <a:rPr lang="en-US"/>
              <a:t>Whether it’s leveraging AWS programs (like OGVA, MAP, and OLA), integrating GenAI, or simply making sure your workloads stay right-sized and cost-efficient, we’re committed to ensuring Thurrock’s cloud continues to evolve delivering lasting value.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🚫 Avoiding Vendor Lock-In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Multi-cloud ready architectures and open-source tooling for portability.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🧩 Ongoing Support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3 days/month post-migration support for incidents, optimisation, and coaching. Collaboration with </a:t>
            </a:r>
            <a:r>
              <a:rPr lang="en-US" sz="600" b="1"/>
              <a:t>AWS Enterprise Support</a:t>
            </a:r>
            <a:r>
              <a:rPr lang="en-US" sz="600"/>
              <a:t> and </a:t>
            </a:r>
            <a:r>
              <a:rPr lang="en-US" sz="600" b="1"/>
              <a:t>Technical Account Managers (TAMs)</a:t>
            </a:r>
            <a:r>
              <a:rPr lang="en-US" sz="6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/>
          </a:p>
          <a:p>
            <a:pPr>
              <a:buNone/>
            </a:pPr>
            <a:r>
              <a:rPr lang="en-US" sz="600" b="1"/>
              <a:t>💰 FinOps Excellence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Power BI dashboards integrating AWS CUR and Cost Explorer for transparency. Ongoing monthly optimisation reviews to avoid stranded costs.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==================================================================================================</a:t>
            </a:r>
          </a:p>
          <a:p>
            <a:pPr>
              <a:buNone/>
            </a:pPr>
            <a:r>
              <a:rPr lang="en-US" sz="800" b="1"/>
              <a:t>🔁 Automation &amp; Optimisation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Automated provisioning, patching, and scaling using Terraform &amp; AWS SSM. Continuous rightsizing and performance tuning to minimise waste.</a:t>
            </a:r>
          </a:p>
          <a:p>
            <a:pPr>
              <a:buNone/>
            </a:pPr>
            <a:r>
              <a:rPr lang="en-US" sz="800" b="1"/>
              <a:t>🧠 GenAI Enablement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Identify use cases (service desk, citizen portals, document automation) leveraging AWS Bedrock and Q.</a:t>
            </a:r>
          </a:p>
          <a:p>
            <a:pPr>
              <a:buNone/>
            </a:pPr>
            <a:r>
              <a:rPr lang="en-US" sz="800" b="1"/>
              <a:t>📊 Governance &amp; Reporting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Executive dashboards showing cost, performance, security posture, and compliance trends.</a:t>
            </a:r>
          </a:p>
          <a:p>
            <a:pPr>
              <a:buNone/>
            </a:pPr>
            <a:r>
              <a:rPr lang="en-US" sz="800" b="1"/>
              <a:t>🧩 Ongoing Support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3 days/month post-migration support for incidents, optimisation, and coaching. Collaboration with </a:t>
            </a:r>
            <a:r>
              <a:rPr lang="en-US" sz="800" b="1"/>
              <a:t>AWS Enterprise Support</a:t>
            </a:r>
            <a:r>
              <a:rPr lang="en-US" sz="800"/>
              <a:t> and </a:t>
            </a:r>
            <a:r>
              <a:rPr lang="en-US" sz="800" b="1"/>
              <a:t>Technical Account Managers (TAMs)</a:t>
            </a:r>
            <a:r>
              <a:rPr lang="en-US" sz="800"/>
              <a:t>.</a:t>
            </a:r>
          </a:p>
          <a:p>
            <a:pPr>
              <a:buNone/>
            </a:pPr>
            <a:r>
              <a:rPr lang="en-US" sz="800" b="1"/>
              <a:t>📜 Funding &amp; Frameworks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Leverage </a:t>
            </a:r>
            <a:r>
              <a:rPr lang="en-US" sz="800" b="1"/>
              <a:t>OLA</a:t>
            </a:r>
            <a:r>
              <a:rPr lang="en-US" sz="800"/>
              <a:t>, </a:t>
            </a:r>
            <a:r>
              <a:rPr lang="en-US" sz="800" b="1"/>
              <a:t>OGVA</a:t>
            </a:r>
            <a:r>
              <a:rPr lang="en-US" sz="800"/>
              <a:t>, and </a:t>
            </a:r>
            <a:r>
              <a:rPr lang="en-US" sz="800" b="1"/>
              <a:t>MAP</a:t>
            </a:r>
            <a:r>
              <a:rPr lang="en-US" sz="800"/>
              <a:t> to unlock AWS credits, rebates, and migration funding.</a:t>
            </a:r>
          </a:p>
          <a:p>
            <a:pPr>
              <a:buNone/>
            </a:pPr>
            <a:r>
              <a:rPr lang="en-US" sz="800" b="1"/>
              <a:t>💰 FinOps Excellence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Power BI dashboards integrating AWS CUR and Cost Explorer for transparency. Ongoing monthly optimisation reviews to avoid stranded costs.</a:t>
            </a:r>
          </a:p>
          <a:p>
            <a:pPr>
              <a:buNone/>
            </a:pPr>
            <a:r>
              <a:rPr lang="en-US" sz="800" b="1"/>
              <a:t>🎓 Training &amp; Knowledge Transfer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Hands-on upskilling for Thurrock’s ICT team through shadowing, KT sessions, and self-paced labs.</a:t>
            </a:r>
          </a:p>
          <a:p>
            <a:pPr>
              <a:buNone/>
            </a:pPr>
            <a:r>
              <a:rPr lang="en-US" sz="800" b="1"/>
              <a:t>🚫 Avoiding Vendor Lock-In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Multi-cloud ready architectures and open-source tooling for portability.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2462F-A5D3-CF5B-0D2F-8D6004DC2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7690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85630-50C6-7ACE-351E-C3362AE5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5E1D4-5120-03BA-AC02-80D6EC10B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298C4-6807-2072-94FF-11A8A3930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Our partnership with Thurrock doesn’t end at go-live.</a:t>
            </a:r>
          </a:p>
          <a:p>
            <a:endParaRPr lang="en-US"/>
          </a:p>
          <a:p>
            <a:r>
              <a:rPr lang="en-US"/>
              <a:t>This final piece is about how Mastek ensures sustained value long after migration.</a:t>
            </a:r>
          </a:p>
          <a:p>
            <a:endParaRPr lang="en-US"/>
          </a:p>
          <a:p>
            <a:r>
              <a:rPr lang="en-US"/>
              <a:t>Through what we call the </a:t>
            </a:r>
            <a:r>
              <a:rPr lang="en-US" i="1"/>
              <a:t>Thurrock Cloud Value Hub</a:t>
            </a:r>
            <a:r>
              <a:rPr lang="en-US"/>
              <a:t>, we bring together automation, FinOps excellence, training, AI enablement.  </a:t>
            </a:r>
          </a:p>
          <a:p>
            <a:endParaRPr lang="en-US"/>
          </a:p>
          <a:p>
            <a:r>
              <a:rPr lang="en-US"/>
              <a:t>We embed automation, cost visibility, and skills transfer into everything we deliver ensuring your team remains in control, your platform stays optimised, and your costs stay predictable.</a:t>
            </a:r>
          </a:p>
          <a:p>
            <a:endParaRPr lang="en-US"/>
          </a:p>
          <a:p>
            <a:r>
              <a:rPr lang="en-US"/>
              <a:t>Whether it’s leveraging AWS programs (like OGVA, MAP, and OLA), integrating GenAI, or simply making sure your workloads stay right-sized and cost-efficient, we’re committed to ensuring Thurrock’s cloud continues to evolve delivering lasting value.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🚫 Avoiding Vendor Lock-In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Multi-cloud ready architectures and open-source tooling for portability.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🧩 Ongoing Support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3 days/month post-migration support for incidents, optimisation, and coaching. Collaboration with </a:t>
            </a:r>
            <a:r>
              <a:rPr lang="en-US" sz="600" b="1"/>
              <a:t>AWS Enterprise Support</a:t>
            </a:r>
            <a:r>
              <a:rPr lang="en-US" sz="600"/>
              <a:t> and </a:t>
            </a:r>
            <a:r>
              <a:rPr lang="en-US" sz="600" b="1"/>
              <a:t>Technical Account Managers (TAMs)</a:t>
            </a:r>
            <a:r>
              <a:rPr lang="en-US" sz="6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/>
          </a:p>
          <a:p>
            <a:pPr>
              <a:buNone/>
            </a:pPr>
            <a:r>
              <a:rPr lang="en-US" sz="600" b="1"/>
              <a:t>💰 FinOps Excellence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Power BI dashboards integrating AWS CUR and Cost Explorer for transparency. Ongoing monthly optimisation reviews to avoid stranded costs.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==================================================================================================</a:t>
            </a:r>
          </a:p>
          <a:p>
            <a:pPr>
              <a:buNone/>
            </a:pPr>
            <a:r>
              <a:rPr lang="en-US" sz="800" b="1"/>
              <a:t>🔁 Automation &amp; Optimisation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Automated provisioning, patching, and scaling using Terraform &amp; AWS SSM. Continuous rightsizing and performance tuning to minimise waste.</a:t>
            </a:r>
          </a:p>
          <a:p>
            <a:pPr>
              <a:buNone/>
            </a:pPr>
            <a:r>
              <a:rPr lang="en-US" sz="800" b="1"/>
              <a:t>🧠 GenAI Enablement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Identify use cases (service desk, citizen portals, document automation) leveraging AWS Bedrock and Q.</a:t>
            </a:r>
          </a:p>
          <a:p>
            <a:pPr>
              <a:buNone/>
            </a:pPr>
            <a:r>
              <a:rPr lang="en-US" sz="800" b="1"/>
              <a:t>📊 Governance &amp; Reporting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Executive dashboards showing cost, performance, security posture, and compliance trends.</a:t>
            </a:r>
          </a:p>
          <a:p>
            <a:pPr>
              <a:buNone/>
            </a:pPr>
            <a:r>
              <a:rPr lang="en-US" sz="800" b="1"/>
              <a:t>🧩 Ongoing Support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3 days/month post-migration support for incidents, optimisation, and coaching. Collaboration with </a:t>
            </a:r>
            <a:r>
              <a:rPr lang="en-US" sz="800" b="1"/>
              <a:t>AWS Enterprise Support</a:t>
            </a:r>
            <a:r>
              <a:rPr lang="en-US" sz="800"/>
              <a:t> and </a:t>
            </a:r>
            <a:r>
              <a:rPr lang="en-US" sz="800" b="1"/>
              <a:t>Technical Account Managers (TAMs)</a:t>
            </a:r>
            <a:r>
              <a:rPr lang="en-US" sz="800"/>
              <a:t>.</a:t>
            </a:r>
          </a:p>
          <a:p>
            <a:pPr>
              <a:buNone/>
            </a:pPr>
            <a:r>
              <a:rPr lang="en-US" sz="800" b="1"/>
              <a:t>📜 Funding &amp; Frameworks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Leverage </a:t>
            </a:r>
            <a:r>
              <a:rPr lang="en-US" sz="800" b="1"/>
              <a:t>OLA</a:t>
            </a:r>
            <a:r>
              <a:rPr lang="en-US" sz="800"/>
              <a:t>, </a:t>
            </a:r>
            <a:r>
              <a:rPr lang="en-US" sz="800" b="1"/>
              <a:t>OGVA</a:t>
            </a:r>
            <a:r>
              <a:rPr lang="en-US" sz="800"/>
              <a:t>, and </a:t>
            </a:r>
            <a:r>
              <a:rPr lang="en-US" sz="800" b="1"/>
              <a:t>MAP</a:t>
            </a:r>
            <a:r>
              <a:rPr lang="en-US" sz="800"/>
              <a:t> to unlock AWS credits, rebates, and migration funding.</a:t>
            </a:r>
          </a:p>
          <a:p>
            <a:pPr>
              <a:buNone/>
            </a:pPr>
            <a:r>
              <a:rPr lang="en-US" sz="800" b="1"/>
              <a:t>💰 FinOps Excellence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Power BI dashboards integrating AWS CUR and Cost Explorer for transparency. Ongoing monthly optimisation reviews to avoid stranded costs.</a:t>
            </a:r>
          </a:p>
          <a:p>
            <a:pPr>
              <a:buNone/>
            </a:pPr>
            <a:r>
              <a:rPr lang="en-US" sz="800" b="1"/>
              <a:t>🎓 Training &amp; Knowledge Transfer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Hands-on upskilling for Thurrock’s ICT team through shadowing, KT sessions, and self-paced labs.</a:t>
            </a:r>
          </a:p>
          <a:p>
            <a:pPr>
              <a:buNone/>
            </a:pPr>
            <a:r>
              <a:rPr lang="en-US" sz="800" b="1"/>
              <a:t>🚫 Avoiding Vendor Lock-In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Multi-cloud ready architectures and open-source tooling for portability.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3E462-328A-978B-4990-06911ED5C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142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BC53D-F4E4-CA8C-FD25-0C27905F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E458B-C56C-9E01-AAAE-012DDFD6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779E1-D478-0D1E-0ECB-93E6C3BD2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Our partnership with Thurrock doesn’t end at go-live.</a:t>
            </a:r>
          </a:p>
          <a:p>
            <a:endParaRPr lang="en-US"/>
          </a:p>
          <a:p>
            <a:r>
              <a:rPr lang="en-US"/>
              <a:t>This final piece is about how Mastek ensures sustained value long after migration.</a:t>
            </a:r>
          </a:p>
          <a:p>
            <a:endParaRPr lang="en-US"/>
          </a:p>
          <a:p>
            <a:r>
              <a:rPr lang="en-US"/>
              <a:t>Through what we call the </a:t>
            </a:r>
            <a:r>
              <a:rPr lang="en-US" i="1"/>
              <a:t>Thurrock Cloud Value Hub</a:t>
            </a:r>
            <a:r>
              <a:rPr lang="en-US"/>
              <a:t>, we bring together automation, FinOps excellence, training, AI enablement.  </a:t>
            </a:r>
          </a:p>
          <a:p>
            <a:endParaRPr lang="en-US"/>
          </a:p>
          <a:p>
            <a:r>
              <a:rPr lang="en-US"/>
              <a:t>We embed automation, cost visibility, and skills transfer into everything we deliver ensuring your team remains in control, your platform stays optimised, and your costs stay predictable.</a:t>
            </a:r>
          </a:p>
          <a:p>
            <a:endParaRPr lang="en-US"/>
          </a:p>
          <a:p>
            <a:r>
              <a:rPr lang="en-US"/>
              <a:t>Whether it’s leveraging AWS programs (like OGVA, MAP, and OLA), integrating GenAI, or simply making sure your workloads stay right-sized and cost-efficient, we’re committed to ensuring Thurrock’s cloud continues to evolve delivering lasting value.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🚫 Avoiding Vendor Lock-In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Multi-cloud ready architectures and open-source tooling for portability.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🧩 Ongoing Support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3 days/month post-migration support for incidents, optimisation, and coaching. Collaboration with </a:t>
            </a:r>
            <a:r>
              <a:rPr lang="en-US" sz="600" b="1"/>
              <a:t>AWS Enterprise Support</a:t>
            </a:r>
            <a:r>
              <a:rPr lang="en-US" sz="600"/>
              <a:t> and </a:t>
            </a:r>
            <a:r>
              <a:rPr lang="en-US" sz="600" b="1"/>
              <a:t>Technical Account Managers (TAMs)</a:t>
            </a:r>
            <a:r>
              <a:rPr lang="en-US" sz="6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/>
          </a:p>
          <a:p>
            <a:pPr>
              <a:buNone/>
            </a:pPr>
            <a:r>
              <a:rPr lang="en-US" sz="600" b="1"/>
              <a:t>💰 FinOps Excellence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Power BI dashboards integrating AWS CUR and Cost Explorer for transparency. Ongoing monthly optimisation reviews to avoid stranded costs.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==================================================================================================</a:t>
            </a:r>
          </a:p>
          <a:p>
            <a:pPr>
              <a:buNone/>
            </a:pPr>
            <a:r>
              <a:rPr lang="en-US" sz="800" b="1"/>
              <a:t>🔁 Automation &amp; Optimisation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Automated provisioning, patching, and scaling using Terraform &amp; AWS SSM. Continuous rightsizing and performance tuning to minimise waste.</a:t>
            </a:r>
          </a:p>
          <a:p>
            <a:pPr>
              <a:buNone/>
            </a:pPr>
            <a:r>
              <a:rPr lang="en-US" sz="800" b="1"/>
              <a:t>🧠 GenAI Enablement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Identify use cases (service desk, citizen portals, document automation) leveraging AWS Bedrock and Q.</a:t>
            </a:r>
          </a:p>
          <a:p>
            <a:pPr>
              <a:buNone/>
            </a:pPr>
            <a:r>
              <a:rPr lang="en-US" sz="800" b="1"/>
              <a:t>📊 Governance &amp; Reporting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Executive dashboards showing cost, performance, security posture, and compliance trends.</a:t>
            </a:r>
          </a:p>
          <a:p>
            <a:pPr>
              <a:buNone/>
            </a:pPr>
            <a:r>
              <a:rPr lang="en-US" sz="800" b="1"/>
              <a:t>🧩 Ongoing Support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3 days/month post-migration support for incidents, optimisation, and coaching. Collaboration with </a:t>
            </a:r>
            <a:r>
              <a:rPr lang="en-US" sz="800" b="1"/>
              <a:t>AWS Enterprise Support</a:t>
            </a:r>
            <a:r>
              <a:rPr lang="en-US" sz="800"/>
              <a:t> and </a:t>
            </a:r>
            <a:r>
              <a:rPr lang="en-US" sz="800" b="1"/>
              <a:t>Technical Account Managers (TAMs)</a:t>
            </a:r>
            <a:r>
              <a:rPr lang="en-US" sz="800"/>
              <a:t>.</a:t>
            </a:r>
          </a:p>
          <a:p>
            <a:pPr>
              <a:buNone/>
            </a:pPr>
            <a:r>
              <a:rPr lang="en-US" sz="800" b="1"/>
              <a:t>📜 Funding &amp; Frameworks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Leverage </a:t>
            </a:r>
            <a:r>
              <a:rPr lang="en-US" sz="800" b="1"/>
              <a:t>OLA</a:t>
            </a:r>
            <a:r>
              <a:rPr lang="en-US" sz="800"/>
              <a:t>, </a:t>
            </a:r>
            <a:r>
              <a:rPr lang="en-US" sz="800" b="1"/>
              <a:t>OGVA</a:t>
            </a:r>
            <a:r>
              <a:rPr lang="en-US" sz="800"/>
              <a:t>, and </a:t>
            </a:r>
            <a:r>
              <a:rPr lang="en-US" sz="800" b="1"/>
              <a:t>MAP</a:t>
            </a:r>
            <a:r>
              <a:rPr lang="en-US" sz="800"/>
              <a:t> to unlock AWS credits, rebates, and migration funding.</a:t>
            </a:r>
          </a:p>
          <a:p>
            <a:pPr>
              <a:buNone/>
            </a:pPr>
            <a:r>
              <a:rPr lang="en-US" sz="800" b="1"/>
              <a:t>💰 FinOps Excellence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Power BI dashboards integrating AWS CUR and Cost Explorer for transparency. Ongoing monthly optimisation reviews to avoid stranded costs.</a:t>
            </a:r>
          </a:p>
          <a:p>
            <a:pPr>
              <a:buNone/>
            </a:pPr>
            <a:r>
              <a:rPr lang="en-US" sz="800" b="1"/>
              <a:t>🎓 Training &amp; Knowledge Transfer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Hands-on upskilling for Thurrock’s ICT team through shadowing, KT sessions, and self-paced labs.</a:t>
            </a:r>
          </a:p>
          <a:p>
            <a:pPr>
              <a:buNone/>
            </a:pPr>
            <a:r>
              <a:rPr lang="en-US" sz="800" b="1"/>
              <a:t>🚫 Avoiding Vendor Lock-In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Multi-cloud ready architectures and open-source tooling for portability.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E1619-A939-F283-5B6F-3A9B704D3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3934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80C3-AF05-9845-A53D-FF5C52CA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FE3EF-935A-8BCD-9B94-1DE23D81C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23FDB-B36A-235E-73F5-9F5E0A256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Our partnership with Thurrock doesn’t end at go-live.</a:t>
            </a:r>
          </a:p>
          <a:p>
            <a:endParaRPr lang="en-US"/>
          </a:p>
          <a:p>
            <a:r>
              <a:rPr lang="en-US"/>
              <a:t>This final piece is about how Mastek ensures sustained value long after migration.</a:t>
            </a:r>
          </a:p>
          <a:p>
            <a:endParaRPr lang="en-US"/>
          </a:p>
          <a:p>
            <a:r>
              <a:rPr lang="en-US"/>
              <a:t>Through what we call the </a:t>
            </a:r>
            <a:r>
              <a:rPr lang="en-US" i="1"/>
              <a:t>Thurrock Cloud Value Hub</a:t>
            </a:r>
            <a:r>
              <a:rPr lang="en-US"/>
              <a:t>, we bring together automation, FinOps excellence, training, AI enablement.  </a:t>
            </a:r>
          </a:p>
          <a:p>
            <a:endParaRPr lang="en-US"/>
          </a:p>
          <a:p>
            <a:r>
              <a:rPr lang="en-US"/>
              <a:t>We embed automation, cost visibility, and skills transfer into everything we deliver ensuring your team remains in control, your platform stays optimised, and your costs stay predictable.</a:t>
            </a:r>
          </a:p>
          <a:p>
            <a:endParaRPr lang="en-US"/>
          </a:p>
          <a:p>
            <a:r>
              <a:rPr lang="en-US"/>
              <a:t>Whether it’s leveraging AWS programs (like OGVA, MAP, and OLA), integrating GenAI, or simply making sure your workloads stay right-sized and cost-efficient, we’re committed to ensuring Thurrock’s cloud continues to evolve delivering lasting value.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🚫 Avoiding Vendor Lock-In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Multi-cloud ready architectures and open-source tooling for portability.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🧩 Ongoing Support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3 days/month post-migration support for incidents, optimisation, and coaching. Collaboration with </a:t>
            </a:r>
            <a:r>
              <a:rPr lang="en-US" sz="600" b="1"/>
              <a:t>AWS Enterprise Support</a:t>
            </a:r>
            <a:r>
              <a:rPr lang="en-US" sz="600"/>
              <a:t> and </a:t>
            </a:r>
            <a:r>
              <a:rPr lang="en-US" sz="600" b="1"/>
              <a:t>Technical Account Managers (TAMs)</a:t>
            </a:r>
            <a:r>
              <a:rPr lang="en-US" sz="6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/>
          </a:p>
          <a:p>
            <a:pPr>
              <a:buNone/>
            </a:pPr>
            <a:r>
              <a:rPr lang="en-US" sz="600" b="1"/>
              <a:t>💰 FinOps Excellence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Power BI dashboards integrating AWS CUR and Cost Explorer for transparency. Ongoing monthly optimisation reviews to avoid stranded costs.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==================================================================================================</a:t>
            </a:r>
          </a:p>
          <a:p>
            <a:pPr>
              <a:buNone/>
            </a:pPr>
            <a:r>
              <a:rPr lang="en-US" sz="800" b="1"/>
              <a:t>🔁 Automation &amp; Optimisation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Automated provisioning, patching, and scaling using Terraform &amp; AWS SSM. Continuous rightsizing and performance tuning to minimise waste.</a:t>
            </a:r>
          </a:p>
          <a:p>
            <a:pPr>
              <a:buNone/>
            </a:pPr>
            <a:r>
              <a:rPr lang="en-US" sz="800" b="1"/>
              <a:t>🧠 GenAI Enablement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Identify use cases (service desk, citizen portals, document automation) leveraging AWS Bedrock and Q.</a:t>
            </a:r>
          </a:p>
          <a:p>
            <a:pPr>
              <a:buNone/>
            </a:pPr>
            <a:r>
              <a:rPr lang="en-US" sz="800" b="1"/>
              <a:t>📊 Governance &amp; Reporting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Executive dashboards showing cost, performance, security posture, and compliance trends.</a:t>
            </a:r>
          </a:p>
          <a:p>
            <a:pPr>
              <a:buNone/>
            </a:pPr>
            <a:r>
              <a:rPr lang="en-US" sz="800" b="1"/>
              <a:t>🧩 Ongoing Support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3 days/month post-migration support for incidents, optimisation, and coaching. Collaboration with </a:t>
            </a:r>
            <a:r>
              <a:rPr lang="en-US" sz="800" b="1"/>
              <a:t>AWS Enterprise Support</a:t>
            </a:r>
            <a:r>
              <a:rPr lang="en-US" sz="800"/>
              <a:t> and </a:t>
            </a:r>
            <a:r>
              <a:rPr lang="en-US" sz="800" b="1"/>
              <a:t>Technical Account Managers (TAMs)</a:t>
            </a:r>
            <a:r>
              <a:rPr lang="en-US" sz="800"/>
              <a:t>.</a:t>
            </a:r>
          </a:p>
          <a:p>
            <a:pPr>
              <a:buNone/>
            </a:pPr>
            <a:r>
              <a:rPr lang="en-US" sz="800" b="1"/>
              <a:t>📜 Funding &amp; Frameworks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Leverage </a:t>
            </a:r>
            <a:r>
              <a:rPr lang="en-US" sz="800" b="1"/>
              <a:t>OLA</a:t>
            </a:r>
            <a:r>
              <a:rPr lang="en-US" sz="800"/>
              <a:t>, </a:t>
            </a:r>
            <a:r>
              <a:rPr lang="en-US" sz="800" b="1"/>
              <a:t>OGVA</a:t>
            </a:r>
            <a:r>
              <a:rPr lang="en-US" sz="800"/>
              <a:t>, and </a:t>
            </a:r>
            <a:r>
              <a:rPr lang="en-US" sz="800" b="1"/>
              <a:t>MAP</a:t>
            </a:r>
            <a:r>
              <a:rPr lang="en-US" sz="800"/>
              <a:t> to unlock AWS credits, rebates, and migration funding.</a:t>
            </a:r>
          </a:p>
          <a:p>
            <a:pPr>
              <a:buNone/>
            </a:pPr>
            <a:r>
              <a:rPr lang="en-US" sz="800" b="1"/>
              <a:t>💰 FinOps Excellence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Power BI dashboards integrating AWS CUR and Cost Explorer for transparency. Ongoing monthly optimisation reviews to avoid stranded costs.</a:t>
            </a:r>
          </a:p>
          <a:p>
            <a:pPr>
              <a:buNone/>
            </a:pPr>
            <a:r>
              <a:rPr lang="en-US" sz="800" b="1"/>
              <a:t>🎓 Training &amp; Knowledge Transfer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Hands-on upskilling for Thurrock’s ICT team through shadowing, KT sessions, and self-paced labs.</a:t>
            </a:r>
          </a:p>
          <a:p>
            <a:pPr>
              <a:buNone/>
            </a:pPr>
            <a:r>
              <a:rPr lang="en-US" sz="800" b="1"/>
              <a:t>🚫 Avoiding Vendor Lock-In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Multi-cloud ready architectures and open-source tooling for portability.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24DCA-FC06-E6D5-9EA3-0E3119314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1658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46FFD-DC33-730C-D95D-F83CA70DA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98744-ADF1-D37B-49E2-FA418FA91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E9715-E75B-DD19-020B-B0C1D3B91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C1898-E9EA-C036-BCDF-391A58D36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3961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E0FA5-0803-6824-DA3C-934D91BB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5B089-14AA-61D2-B3B2-2C51C391B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566AE-4E3E-5D19-9647-3950EE333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Our partnership with Thurrock doesn’t end at go-live.</a:t>
            </a:r>
          </a:p>
          <a:p>
            <a:endParaRPr lang="en-US"/>
          </a:p>
          <a:p>
            <a:r>
              <a:rPr lang="en-US"/>
              <a:t>This final piece is about how Mastek ensures sustained value long after migration.</a:t>
            </a:r>
          </a:p>
          <a:p>
            <a:endParaRPr lang="en-US"/>
          </a:p>
          <a:p>
            <a:r>
              <a:rPr lang="en-US"/>
              <a:t>Through what we call the </a:t>
            </a:r>
            <a:r>
              <a:rPr lang="en-US" i="1"/>
              <a:t>Thurrock Cloud Value Hub</a:t>
            </a:r>
            <a:r>
              <a:rPr lang="en-US"/>
              <a:t>, we bring together automation, FinOps excellence, training, AI enablement.  </a:t>
            </a:r>
          </a:p>
          <a:p>
            <a:endParaRPr lang="en-US"/>
          </a:p>
          <a:p>
            <a:r>
              <a:rPr lang="en-US"/>
              <a:t>We embed automation, cost visibility, and skills transfer into everything we deliver ensuring your team remains in control, your platform stays optimised, and your costs stay predictable.</a:t>
            </a:r>
          </a:p>
          <a:p>
            <a:endParaRPr lang="en-US"/>
          </a:p>
          <a:p>
            <a:r>
              <a:rPr lang="en-US"/>
              <a:t>Whether it’s leveraging AWS programs (like OGVA, MAP, and OLA), integrating GenAI, or simply making sure your workloads stay right-sized and cost-efficient, we’re committed to ensuring Thurrock’s cloud continues to evolve delivering lasting value.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🚫 Avoiding Vendor Lock-In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Multi-cloud ready architectures and open-source tooling for portability.</a:t>
            </a:r>
          </a:p>
          <a:p>
            <a:endParaRPr lang="en-US"/>
          </a:p>
          <a:p>
            <a:pPr>
              <a:buNone/>
            </a:pPr>
            <a:r>
              <a:rPr lang="en-US" sz="600" b="1"/>
              <a:t>🧩 Ongoing Support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3 days/month post-migration support for incidents, optimisation, and coaching. Collaboration with </a:t>
            </a:r>
            <a:r>
              <a:rPr lang="en-US" sz="600" b="1"/>
              <a:t>AWS Enterprise Support</a:t>
            </a:r>
            <a:r>
              <a:rPr lang="en-US" sz="600"/>
              <a:t> and </a:t>
            </a:r>
            <a:r>
              <a:rPr lang="en-US" sz="600" b="1"/>
              <a:t>Technical Account Managers (TAMs)</a:t>
            </a:r>
            <a:r>
              <a:rPr lang="en-US" sz="6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600"/>
          </a:p>
          <a:p>
            <a:pPr>
              <a:buNone/>
            </a:pPr>
            <a:r>
              <a:rPr lang="en-US" sz="600" b="1"/>
              <a:t>💰 FinOps Excellence</a:t>
            </a:r>
            <a:endParaRPr lang="en-US" sz="600"/>
          </a:p>
          <a:p>
            <a:pPr>
              <a:buFont typeface="Arial" panose="020B0604020202020204" pitchFamily="34" charset="0"/>
              <a:buChar char="•"/>
            </a:pPr>
            <a:r>
              <a:rPr lang="en-US" sz="600"/>
              <a:t>Power BI dashboards integrating AWS CUR and Cost Explorer for transparency. Ongoing monthly optimisation reviews to avoid stranded costs.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==================================================================================================</a:t>
            </a:r>
          </a:p>
          <a:p>
            <a:pPr>
              <a:buNone/>
            </a:pPr>
            <a:r>
              <a:rPr lang="en-US" sz="800" b="1"/>
              <a:t>🔁 Automation &amp; Optimisation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Automated provisioning, patching, and scaling using Terraform &amp; AWS SSM. Continuous rightsizing and performance tuning to minimise waste.</a:t>
            </a:r>
          </a:p>
          <a:p>
            <a:pPr>
              <a:buNone/>
            </a:pPr>
            <a:r>
              <a:rPr lang="en-US" sz="800" b="1"/>
              <a:t>🧠 GenAI Enablement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Identify use cases (service desk, citizen portals, document automation) leveraging AWS Bedrock and Q.</a:t>
            </a:r>
          </a:p>
          <a:p>
            <a:pPr>
              <a:buNone/>
            </a:pPr>
            <a:r>
              <a:rPr lang="en-US" sz="800" b="1"/>
              <a:t>📊 Governance &amp; Reporting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Executive dashboards showing cost, performance, security posture, and compliance trends.</a:t>
            </a:r>
          </a:p>
          <a:p>
            <a:pPr>
              <a:buNone/>
            </a:pPr>
            <a:r>
              <a:rPr lang="en-US" sz="800" b="1"/>
              <a:t>🧩 Ongoing Support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3 days/month post-migration support for incidents, optimisation, and coaching. Collaboration with </a:t>
            </a:r>
            <a:r>
              <a:rPr lang="en-US" sz="800" b="1"/>
              <a:t>AWS Enterprise Support</a:t>
            </a:r>
            <a:r>
              <a:rPr lang="en-US" sz="800"/>
              <a:t> and </a:t>
            </a:r>
            <a:r>
              <a:rPr lang="en-US" sz="800" b="1"/>
              <a:t>Technical Account Managers (TAMs)</a:t>
            </a:r>
            <a:r>
              <a:rPr lang="en-US" sz="800"/>
              <a:t>.</a:t>
            </a:r>
          </a:p>
          <a:p>
            <a:pPr>
              <a:buNone/>
            </a:pPr>
            <a:r>
              <a:rPr lang="en-US" sz="800" b="1"/>
              <a:t>📜 Funding &amp; Frameworks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Leverage </a:t>
            </a:r>
            <a:r>
              <a:rPr lang="en-US" sz="800" b="1"/>
              <a:t>OLA</a:t>
            </a:r>
            <a:r>
              <a:rPr lang="en-US" sz="800"/>
              <a:t>, </a:t>
            </a:r>
            <a:r>
              <a:rPr lang="en-US" sz="800" b="1"/>
              <a:t>OGVA</a:t>
            </a:r>
            <a:r>
              <a:rPr lang="en-US" sz="800"/>
              <a:t>, and </a:t>
            </a:r>
            <a:r>
              <a:rPr lang="en-US" sz="800" b="1"/>
              <a:t>MAP</a:t>
            </a:r>
            <a:r>
              <a:rPr lang="en-US" sz="800"/>
              <a:t> to unlock AWS credits, rebates, and migration funding.</a:t>
            </a:r>
          </a:p>
          <a:p>
            <a:pPr>
              <a:buNone/>
            </a:pPr>
            <a:r>
              <a:rPr lang="en-US" sz="800" b="1"/>
              <a:t>💰 FinOps Excellence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Power BI dashboards integrating AWS CUR and Cost Explorer for transparency. Ongoing monthly optimisation reviews to avoid stranded costs.</a:t>
            </a:r>
          </a:p>
          <a:p>
            <a:pPr>
              <a:buNone/>
            </a:pPr>
            <a:r>
              <a:rPr lang="en-US" sz="800" b="1"/>
              <a:t>🎓 Training &amp; Knowledge Transfer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Hands-on upskilling for Thurrock’s ICT team through shadowing, KT sessions, and self-paced labs.</a:t>
            </a:r>
          </a:p>
          <a:p>
            <a:pPr>
              <a:buNone/>
            </a:pPr>
            <a:r>
              <a:rPr lang="en-US" sz="800" b="1"/>
              <a:t>🚫 Avoiding Vendor Lock-In</a:t>
            </a:r>
            <a:endParaRPr lang="en-US" sz="800"/>
          </a:p>
          <a:p>
            <a:pPr>
              <a:buFont typeface="Arial" panose="020B0604020202020204" pitchFamily="34" charset="0"/>
              <a:buChar char="•"/>
            </a:pPr>
            <a:r>
              <a:rPr lang="en-US" sz="800"/>
              <a:t>Multi-cloud ready architectures and open-source tooling for portability.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99282-D34C-45B5-E3CE-060FE6692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0583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Mastekltd/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4.svg"/><Relationship Id="rId2" Type="http://schemas.openxmlformats.org/officeDocument/2006/relationships/hyperlink" Target="https://www.linkedin.com/company/mastek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channel/UCu-jUvZhjNtw_eNBKKLossA" TargetMode="Externa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5.emf"/><Relationship Id="rId4" Type="http://schemas.openxmlformats.org/officeDocument/2006/relationships/hyperlink" Target="https://twitter.com/MastekUK" TargetMode="External"/><Relationship Id="rId9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Mastekltd/" TargetMode="External"/><Relationship Id="rId13" Type="http://schemas.microsoft.com/office/2007/relationships/hdphoto" Target="../media/hdphoto4.wdp"/><Relationship Id="rId3" Type="http://schemas.openxmlformats.org/officeDocument/2006/relationships/image" Target="../media/image16.png"/><Relationship Id="rId7" Type="http://schemas.microsoft.com/office/2007/relationships/hdphoto" Target="../media/hdphoto2.wdp"/><Relationship Id="rId12" Type="http://schemas.openxmlformats.org/officeDocument/2006/relationships/image" Target="../media/image19.png"/><Relationship Id="rId2" Type="http://schemas.openxmlformats.org/officeDocument/2006/relationships/hyperlink" Target="https://www.linkedin.com/company/mastek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11" Type="http://schemas.openxmlformats.org/officeDocument/2006/relationships/hyperlink" Target="https://twitter.com/MastekUK" TargetMode="External"/><Relationship Id="rId5" Type="http://schemas.openxmlformats.org/officeDocument/2006/relationships/hyperlink" Target="https://www.youtube.com/channel/UCu-jUvZhjNtw_eNBKKLossA" TargetMode="External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5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Image 7-More Orange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E314728-79F8-CE0A-B147-47A65797E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763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A433EB-AFB4-1091-A668-5140014F4F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79794-4113-8EF1-F6DE-868FFC90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4599" y="228600"/>
            <a:ext cx="1724160" cy="741509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CAA5870C-E62C-4FB1-C139-D5C844370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9" y="4648200"/>
            <a:ext cx="5457959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9DFB360-2898-F770-376B-9DD512A25B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24600" y="2236304"/>
            <a:ext cx="5534158" cy="2031325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100000"/>
              </a:lnSpc>
              <a:defRPr sz="66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POWERPOINTTEMPLATE</a:t>
            </a:r>
          </a:p>
        </p:txBody>
      </p:sp>
    </p:spTree>
    <p:extLst>
      <p:ext uri="{BB962C8B-B14F-4D97-AF65-F5344CB8AC3E}">
        <p14:creationId xmlns:p14="http://schemas.microsoft.com/office/powerpoint/2010/main" val="1299977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7-Stude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ew people looking at a book&#10;&#10;Description automatically generated with low confidence">
            <a:extLst>
              <a:ext uri="{FF2B5EF4-FFF2-40B4-BE49-F238E27FC236}">
                <a16:creationId xmlns:a16="http://schemas.microsoft.com/office/drawing/2014/main" id="{93BC0C00-6234-292F-0B63-ECA7EAC7D0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876691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A433EB-AFB4-1091-A668-5140014F4F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79794-4113-8EF1-F6DE-868FFC90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4599" y="228600"/>
            <a:ext cx="1724160" cy="741509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CAA5870C-E62C-4FB1-C139-D5C844370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9" y="4648200"/>
            <a:ext cx="5457959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9DFB360-2898-F770-376B-9DD512A25B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24600" y="2236304"/>
            <a:ext cx="5534158" cy="2031325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100000"/>
              </a:lnSpc>
              <a:defRPr sz="66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POWERPOINTTEMPLATE</a:t>
            </a:r>
          </a:p>
        </p:txBody>
      </p:sp>
    </p:spTree>
    <p:extLst>
      <p:ext uri="{BB962C8B-B14F-4D97-AF65-F5344CB8AC3E}">
        <p14:creationId xmlns:p14="http://schemas.microsoft.com/office/powerpoint/2010/main" val="7742736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eadline bold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4812" y="1447201"/>
            <a:ext cx="11379201" cy="5022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06B5C2B-B0BF-4136-9EC7-0E7F54D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0818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eadline bold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4812" y="1447201"/>
            <a:ext cx="11379201" cy="5022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06B5C2B-B0BF-4136-9EC7-0E7F54D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904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4812" y="1447201"/>
            <a:ext cx="11379201" cy="5022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06B5C2B-B0BF-4136-9EC7-0E7F54D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540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4812" y="1899138"/>
            <a:ext cx="11379201" cy="45706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404813" y="1327150"/>
            <a:ext cx="11379200" cy="4576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54D7-80F5-442C-9F9E-FCC6CF14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3589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404813" y="1327150"/>
            <a:ext cx="11379200" cy="4576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54D7-80F5-442C-9F9E-FCC6CF14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203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2" y="2205318"/>
            <a:ext cx="5600701" cy="425739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812" y="1327151"/>
            <a:ext cx="5600701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chemeClr val="accent2"/>
                </a:solidFill>
                <a:latin typeface="Ubuntu" panose="020B0504030602030204" pitchFamily="34" charset="0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INSERT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7BDC0DA-1585-454D-9E74-41D2AFC0F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6013" y="1327151"/>
            <a:ext cx="5588001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chemeClr val="accent2"/>
                </a:solidFill>
                <a:latin typeface="Ubuntu" panose="020B0504030602030204" pitchFamily="34" charset="0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INSERT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6013" y="2205318"/>
            <a:ext cx="5594351" cy="425739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8CCF0309-C729-F007-CDEB-D663E511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0947772" cy="7167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05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2205319"/>
            <a:ext cx="3456432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813" y="1327151"/>
            <a:ext cx="3456432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71047" y="2205319"/>
            <a:ext cx="3456432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1047" y="1327151"/>
            <a:ext cx="3456432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30755" y="2205319"/>
            <a:ext cx="3456432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30755" y="1327151"/>
            <a:ext cx="3456432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5564F6B8-1E3B-F6D5-8F6F-126C6151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0947772" cy="7167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107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us 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5564F6B8-1E3B-F6D5-8F6F-126C6151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0947772" cy="7167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1570F1-7961-77FD-EA60-25085B55029B}"/>
              </a:ext>
            </a:extLst>
          </p:cNvPr>
          <p:cNvSpPr/>
          <p:nvPr userDrawn="1"/>
        </p:nvSpPr>
        <p:spPr>
          <a:xfrm>
            <a:off x="381000" y="1556389"/>
            <a:ext cx="1645920" cy="3647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7422C9-20A4-CE3B-F3A4-9CF064E10E57}"/>
              </a:ext>
            </a:extLst>
          </p:cNvPr>
          <p:cNvSpPr/>
          <p:nvPr userDrawn="1"/>
        </p:nvSpPr>
        <p:spPr>
          <a:xfrm>
            <a:off x="2356591" y="1556388"/>
            <a:ext cx="1645920" cy="364742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B59B99-21A0-D869-FF8D-55255782CDE8}"/>
              </a:ext>
            </a:extLst>
          </p:cNvPr>
          <p:cNvSpPr/>
          <p:nvPr userDrawn="1"/>
        </p:nvSpPr>
        <p:spPr>
          <a:xfrm>
            <a:off x="4332182" y="1557530"/>
            <a:ext cx="1645920" cy="36474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09A1F-2B90-2338-1F50-CC99CE87150E}"/>
              </a:ext>
            </a:extLst>
          </p:cNvPr>
          <p:cNvSpPr txBox="1"/>
          <p:nvPr userDrawn="1"/>
        </p:nvSpPr>
        <p:spPr>
          <a:xfrm>
            <a:off x="381002" y="1768231"/>
            <a:ext cx="1645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E7B3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00+ </a:t>
            </a:r>
          </a:p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Lorem Ipsum is simply dummy text 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A2278-F436-E5EE-E288-2E5747D609A7}"/>
              </a:ext>
            </a:extLst>
          </p:cNvPr>
          <p:cNvSpPr txBox="1"/>
          <p:nvPr userDrawn="1"/>
        </p:nvSpPr>
        <p:spPr>
          <a:xfrm>
            <a:off x="2351316" y="1768231"/>
            <a:ext cx="1645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E7B3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00+ </a:t>
            </a:r>
          </a:p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Lorem Ipsum is simply dummy text 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79290-7A3C-F3CC-55DA-A69414C07392}"/>
              </a:ext>
            </a:extLst>
          </p:cNvPr>
          <p:cNvSpPr txBox="1"/>
          <p:nvPr userDrawn="1"/>
        </p:nvSpPr>
        <p:spPr>
          <a:xfrm>
            <a:off x="4343402" y="1768231"/>
            <a:ext cx="1645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E7B3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00+ </a:t>
            </a:r>
          </a:p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Lorem Ipsum is simply dummy text 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E75ADA-6064-3488-D617-CECC5DE27449}"/>
              </a:ext>
            </a:extLst>
          </p:cNvPr>
          <p:cNvSpPr/>
          <p:nvPr userDrawn="1"/>
        </p:nvSpPr>
        <p:spPr>
          <a:xfrm>
            <a:off x="6202668" y="1556389"/>
            <a:ext cx="5608329" cy="364856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D43F59-FB93-9332-E00B-5528191A9525}"/>
              </a:ext>
            </a:extLst>
          </p:cNvPr>
          <p:cNvSpPr txBox="1"/>
          <p:nvPr userDrawn="1"/>
        </p:nvSpPr>
        <p:spPr>
          <a:xfrm>
            <a:off x="8283364" y="2906689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Insert image/graphics here</a:t>
            </a:r>
            <a:endParaRPr lang="en-US" sz="1400" i="1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us 6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5564F6B8-1E3B-F6D5-8F6F-126C6151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0947772" cy="7167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1570F1-7961-77FD-EA60-25085B55029B}"/>
              </a:ext>
            </a:extLst>
          </p:cNvPr>
          <p:cNvSpPr/>
          <p:nvPr userDrawn="1"/>
        </p:nvSpPr>
        <p:spPr>
          <a:xfrm>
            <a:off x="381000" y="1556389"/>
            <a:ext cx="164592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7422C9-20A4-CE3B-F3A4-9CF064E10E57}"/>
              </a:ext>
            </a:extLst>
          </p:cNvPr>
          <p:cNvSpPr/>
          <p:nvPr userDrawn="1"/>
        </p:nvSpPr>
        <p:spPr>
          <a:xfrm>
            <a:off x="2356591" y="1556389"/>
            <a:ext cx="1645920" cy="1645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B59B99-21A0-D869-FF8D-55255782CDE8}"/>
              </a:ext>
            </a:extLst>
          </p:cNvPr>
          <p:cNvSpPr/>
          <p:nvPr userDrawn="1"/>
        </p:nvSpPr>
        <p:spPr>
          <a:xfrm>
            <a:off x="4332182" y="1557530"/>
            <a:ext cx="164592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FE4AB5-5B9D-5C02-65C8-93993B7384BB}"/>
              </a:ext>
            </a:extLst>
          </p:cNvPr>
          <p:cNvSpPr/>
          <p:nvPr userDrawn="1"/>
        </p:nvSpPr>
        <p:spPr>
          <a:xfrm>
            <a:off x="381001" y="3559032"/>
            <a:ext cx="1645920" cy="1645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4549DF-8875-A131-7ED5-357E4E4CE55B}"/>
              </a:ext>
            </a:extLst>
          </p:cNvPr>
          <p:cNvSpPr/>
          <p:nvPr userDrawn="1"/>
        </p:nvSpPr>
        <p:spPr>
          <a:xfrm>
            <a:off x="2362207" y="3559032"/>
            <a:ext cx="164592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3DEFB1-EA9C-DDED-CACE-D3931B7EE1E7}"/>
              </a:ext>
            </a:extLst>
          </p:cNvPr>
          <p:cNvSpPr/>
          <p:nvPr userDrawn="1"/>
        </p:nvSpPr>
        <p:spPr>
          <a:xfrm>
            <a:off x="4343413" y="3559032"/>
            <a:ext cx="1645920" cy="1645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09A1F-2B90-2338-1F50-CC99CE87150E}"/>
              </a:ext>
            </a:extLst>
          </p:cNvPr>
          <p:cNvSpPr txBox="1"/>
          <p:nvPr userDrawn="1"/>
        </p:nvSpPr>
        <p:spPr>
          <a:xfrm>
            <a:off x="381002" y="1768231"/>
            <a:ext cx="1645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E7B3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00+ </a:t>
            </a:r>
          </a:p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Lorem Ipsum is simply dummy text 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A2278-F436-E5EE-E288-2E5747D609A7}"/>
              </a:ext>
            </a:extLst>
          </p:cNvPr>
          <p:cNvSpPr txBox="1"/>
          <p:nvPr userDrawn="1"/>
        </p:nvSpPr>
        <p:spPr>
          <a:xfrm>
            <a:off x="2351316" y="1768231"/>
            <a:ext cx="1645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E7B3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00+ </a:t>
            </a:r>
          </a:p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Lorem Ipsum is simply dummy text 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79290-7A3C-F3CC-55DA-A69414C07392}"/>
              </a:ext>
            </a:extLst>
          </p:cNvPr>
          <p:cNvSpPr txBox="1"/>
          <p:nvPr userDrawn="1"/>
        </p:nvSpPr>
        <p:spPr>
          <a:xfrm>
            <a:off x="4343402" y="1768231"/>
            <a:ext cx="1645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E7B3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00+ </a:t>
            </a:r>
          </a:p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Lorem Ipsum is simply dummy text 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7F65BD-7728-F043-DE88-E3A39D7203B7}"/>
              </a:ext>
            </a:extLst>
          </p:cNvPr>
          <p:cNvSpPr txBox="1"/>
          <p:nvPr userDrawn="1"/>
        </p:nvSpPr>
        <p:spPr>
          <a:xfrm>
            <a:off x="381002" y="3836517"/>
            <a:ext cx="1645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E7B3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00+ </a:t>
            </a:r>
          </a:p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Lorem Ipsum is simply dummy text 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3F66F6-58E6-9496-541D-3A514D1DD956}"/>
              </a:ext>
            </a:extLst>
          </p:cNvPr>
          <p:cNvSpPr txBox="1"/>
          <p:nvPr userDrawn="1"/>
        </p:nvSpPr>
        <p:spPr>
          <a:xfrm>
            <a:off x="2351316" y="3836517"/>
            <a:ext cx="1645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E7B3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00+ </a:t>
            </a:r>
          </a:p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Lorem Ipsum is simply dummy text 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D4B84F-5268-AA9C-AC1B-EF3426BC8F47}"/>
              </a:ext>
            </a:extLst>
          </p:cNvPr>
          <p:cNvSpPr txBox="1"/>
          <p:nvPr userDrawn="1"/>
        </p:nvSpPr>
        <p:spPr>
          <a:xfrm>
            <a:off x="4343402" y="3836517"/>
            <a:ext cx="1645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E7B3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00+ </a:t>
            </a:r>
          </a:p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Lorem Ipsum is simply dummy text 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E75ADA-6064-3488-D617-CECC5DE27449}"/>
              </a:ext>
            </a:extLst>
          </p:cNvPr>
          <p:cNvSpPr/>
          <p:nvPr userDrawn="1"/>
        </p:nvSpPr>
        <p:spPr>
          <a:xfrm>
            <a:off x="6202668" y="1556389"/>
            <a:ext cx="5608329" cy="364856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D43F59-FB93-9332-E00B-5528191A9525}"/>
              </a:ext>
            </a:extLst>
          </p:cNvPr>
          <p:cNvSpPr txBox="1"/>
          <p:nvPr userDrawn="1"/>
        </p:nvSpPr>
        <p:spPr>
          <a:xfrm>
            <a:off x="8283364" y="2906689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Insert image/graphics here</a:t>
            </a:r>
            <a:endParaRPr lang="en-US" sz="1400" i="1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516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2205319"/>
            <a:ext cx="271938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813" y="1327151"/>
            <a:ext cx="2719387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5564F6B8-1E3B-F6D5-8F6F-126C6151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388188"/>
            <a:ext cx="10947772" cy="7167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50FC17F-3EA5-25CE-3A02-D3268C2E25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20135" y="2205319"/>
            <a:ext cx="271938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F78248F2-A98B-C1C7-A6EA-7E4726C7A7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0135" y="1327151"/>
            <a:ext cx="2719387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24DE3B9-56B6-AF78-05CF-4E1B503933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5456" y="2205319"/>
            <a:ext cx="271938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D5BEA79-82DA-45E6-7D05-35D545CAFB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457" y="1327151"/>
            <a:ext cx="2719387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CC46838-5725-FBBD-99F5-6F9C507135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50780" y="2205319"/>
            <a:ext cx="271938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A8520EC-2904-43AD-EED8-EA2378C087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50780" y="1327151"/>
            <a:ext cx="2719387" cy="83782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INSERT TITLE</a:t>
            </a:r>
          </a:p>
        </p:txBody>
      </p:sp>
    </p:spTree>
    <p:extLst>
      <p:ext uri="{BB962C8B-B14F-4D97-AF65-F5344CB8AC3E}">
        <p14:creationId xmlns:p14="http://schemas.microsoft.com/office/powerpoint/2010/main" val="2333047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7F0C9DF-D1FA-45A1-91F6-147FDC3E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7535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A779AA4-A1B6-3BC9-5356-80EC4CD637C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6"/>
          <a:stretch/>
        </p:blipFill>
        <p:spPr bwMode="auto">
          <a:xfrm>
            <a:off x="0" y="1"/>
            <a:ext cx="11414075" cy="685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61A673-CCC9-378B-B6A5-E04A329E24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6800" y="-1"/>
            <a:ext cx="9890124" cy="6858000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CAA5870C-E62C-4FB1-C139-D5C844370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4600" y="4648200"/>
            <a:ext cx="5457959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9DFB360-2898-F770-376B-9DD512A25B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24600" y="2236304"/>
            <a:ext cx="5457959" cy="2031325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100000"/>
              </a:lnSpc>
              <a:defRPr sz="66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POWERPOINTTEMPLATE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EE5C7-2ED3-EFDF-E59D-185CFD229B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82586" y="396714"/>
            <a:ext cx="1694665" cy="72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75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orange 1">
    <p:bg>
      <p:bgPr>
        <a:gradFill flip="none" rotWithShape="1">
          <a:gsLst>
            <a:gs pos="15000">
              <a:srgbClr val="F58220"/>
            </a:gs>
            <a:gs pos="57000">
              <a:schemeClr val="accent2"/>
            </a:gs>
            <a:gs pos="100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My Work\Template\Icons\Social Media\LinkedIN.png">
            <a:hlinkClick r:id="rId2"/>
            <a:extLst>
              <a:ext uri="{FF2B5EF4-FFF2-40B4-BE49-F238E27FC236}">
                <a16:creationId xmlns:a16="http://schemas.microsoft.com/office/drawing/2014/main" id="{AE58B7A3-4C84-B983-D080-804A05AB79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40760" y="5486400"/>
            <a:ext cx="448863" cy="448863"/>
          </a:xfrm>
          <a:prstGeom prst="rect">
            <a:avLst/>
          </a:prstGeom>
          <a:noFill/>
        </p:spPr>
      </p:pic>
      <p:pic>
        <p:nvPicPr>
          <p:cNvPr id="3" name="Picture 5" descr="D:\My Work\Template\Icons\Social Media\Twitter.png">
            <a:hlinkClick r:id="rId4"/>
            <a:extLst>
              <a:ext uri="{FF2B5EF4-FFF2-40B4-BE49-F238E27FC236}">
                <a16:creationId xmlns:a16="http://schemas.microsoft.com/office/drawing/2014/main" id="{D3E6A6F0-8974-39D9-E1FA-F896AD3FC6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85920" y="5486400"/>
            <a:ext cx="448863" cy="448863"/>
          </a:xfrm>
          <a:prstGeom prst="rect">
            <a:avLst/>
          </a:prstGeom>
          <a:noFill/>
        </p:spPr>
      </p:pic>
      <p:pic>
        <p:nvPicPr>
          <p:cNvPr id="4" name="Picture 6" descr="D:\My Work\Template\Icons\Social Media\YouTube.png">
            <a:hlinkClick r:id="rId6"/>
            <a:extLst>
              <a:ext uri="{FF2B5EF4-FFF2-40B4-BE49-F238E27FC236}">
                <a16:creationId xmlns:a16="http://schemas.microsoft.com/office/drawing/2014/main" id="{2897336C-024B-6D28-EA03-2899EA8AE7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31080" y="5486400"/>
            <a:ext cx="448863" cy="448863"/>
          </a:xfrm>
          <a:prstGeom prst="rect">
            <a:avLst/>
          </a:prstGeom>
          <a:noFill/>
        </p:spPr>
      </p:pic>
      <p:pic>
        <p:nvPicPr>
          <p:cNvPr id="5" name="Picture 7" descr="D:\My Work\Template\Icons\Social Media\Facebook.png">
            <a:hlinkClick r:id="rId8"/>
            <a:extLst>
              <a:ext uri="{FF2B5EF4-FFF2-40B4-BE49-F238E27FC236}">
                <a16:creationId xmlns:a16="http://schemas.microsoft.com/office/drawing/2014/main" id="{5D87C2F6-AF14-DA1A-28BF-7C297C6036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95600" y="5486400"/>
            <a:ext cx="448863" cy="448863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9EE8A8-65C9-D683-74AD-34AC1B206E79}"/>
              </a:ext>
            </a:extLst>
          </p:cNvPr>
          <p:cNvSpPr/>
          <p:nvPr userDrawn="1"/>
        </p:nvSpPr>
        <p:spPr>
          <a:xfrm>
            <a:off x="2895600" y="6102596"/>
            <a:ext cx="3293016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Mastek.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Mastek.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7EEDA7-4FE6-EA93-AEB6-33A710C3DBCF}"/>
              </a:ext>
            </a:extLst>
          </p:cNvPr>
          <p:cNvSpPr/>
          <p:nvPr userDrawn="1"/>
        </p:nvSpPr>
        <p:spPr>
          <a:xfrm>
            <a:off x="2895601" y="1600200"/>
            <a:ext cx="4638213" cy="14936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lvl="0" algn="l">
              <a:spcAft>
                <a:spcPts val="1200"/>
              </a:spcAft>
            </a:pPr>
            <a:r>
              <a:rPr lang="en-GB" sz="1100">
                <a:solidFill>
                  <a:schemeClr val="bg1"/>
                </a:solidFill>
                <a:effectLst/>
                <a:latin typeface="+mn-lt"/>
              </a:rPr>
              <a:t>At Mastek, we decomplex digital for all our stakeholders with trust, value, and velocity.</a:t>
            </a:r>
          </a:p>
          <a:p>
            <a:pPr lvl="0" algn="l">
              <a:spcAft>
                <a:spcPts val="1200"/>
              </a:spcAft>
            </a:pPr>
            <a:r>
              <a:rPr lang="en-GB" sz="1100">
                <a:solidFill>
                  <a:schemeClr val="bg1"/>
                </a:solidFill>
                <a:effectLst/>
                <a:latin typeface="+mn-lt"/>
              </a:rPr>
              <a:t>As a Trusted Turnkey Digital Engineering &amp; Cloud Transformation Partner, we deliver business solutions &amp; outcomes for our clients, powered by digital and cloud services with our industry-first approach.</a:t>
            </a:r>
          </a:p>
          <a:p>
            <a:pPr lvl="0" algn="l">
              <a:spcAft>
                <a:spcPts val="1200"/>
              </a:spcAft>
            </a:pPr>
            <a:r>
              <a:rPr lang="en-GB" sz="1100">
                <a:solidFill>
                  <a:schemeClr val="bg1"/>
                </a:solidFill>
                <a:effectLst/>
                <a:latin typeface="+mn-lt"/>
              </a:rPr>
              <a:t>Mastek 4.0 is at the core of our cultural framework, providing Mastekeers with complete autonomy and empowerment for continuous self-growth and customer success.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2E9872-C0AD-3022-D48E-C74D79C9A2EC}"/>
              </a:ext>
            </a:extLst>
          </p:cNvPr>
          <p:cNvSpPr/>
          <p:nvPr userDrawn="1"/>
        </p:nvSpPr>
        <p:spPr>
          <a:xfrm>
            <a:off x="2895600" y="1220936"/>
            <a:ext cx="2219960" cy="239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>
                <a:solidFill>
                  <a:schemeClr val="bg1"/>
                </a:solidFill>
                <a:latin typeface="+mj-lt"/>
              </a:rPr>
              <a:t>About </a:t>
            </a:r>
            <a:r>
              <a:rPr lang="en-US" sz="1600" b="1">
                <a:solidFill>
                  <a:schemeClr val="bg1"/>
                </a:solidFill>
                <a:latin typeface="+mj-lt"/>
              </a:rPr>
              <a:t>Mastek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25EECA-9714-2B7D-A308-D5C498F41FE1}"/>
              </a:ext>
            </a:extLst>
          </p:cNvPr>
          <p:cNvSpPr/>
          <p:nvPr userDrawn="1"/>
        </p:nvSpPr>
        <p:spPr>
          <a:xfrm>
            <a:off x="2895600" y="3416416"/>
            <a:ext cx="4345176" cy="407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chemeClr val="bg1"/>
                </a:solidFill>
                <a:latin typeface="+mn-lt"/>
              </a:rPr>
              <a:t>Visit us at </a:t>
            </a:r>
            <a:r>
              <a:rPr lang="en-US" sz="1200" b="1">
                <a:solidFill>
                  <a:schemeClr val="bg1"/>
                </a:solidFill>
                <a:latin typeface="+mn-lt"/>
              </a:rPr>
              <a:t>www.mastek.com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95156-5EFD-CDD5-25CF-6302A1ECAE8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4599" y="228600"/>
            <a:ext cx="1724160" cy="74150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0BA4EEA-F3AD-9547-EB35-C6A3BFBB52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8144" r="21733" b="10776"/>
          <a:stretch/>
        </p:blipFill>
        <p:spPr>
          <a:xfrm>
            <a:off x="6934200" y="-1"/>
            <a:ext cx="5257800" cy="68580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33324C-5B2A-0320-F6D9-B69E9103B27D}"/>
              </a:ext>
            </a:extLst>
          </p:cNvPr>
          <p:cNvSpPr txBox="1"/>
          <p:nvPr userDrawn="1"/>
        </p:nvSpPr>
        <p:spPr>
          <a:xfrm>
            <a:off x="2797619" y="3907886"/>
            <a:ext cx="466998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LET’S DECOMPLEXIFY DIGITAL,</a:t>
            </a:r>
          </a:p>
          <a:p>
            <a:r>
              <a:rPr lang="en-GB" sz="5500" b="1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TOGETHER.</a:t>
            </a:r>
            <a:endParaRPr lang="en-US" sz="5500"/>
          </a:p>
        </p:txBody>
      </p:sp>
    </p:spTree>
    <p:extLst>
      <p:ext uri="{BB962C8B-B14F-4D97-AF65-F5344CB8AC3E}">
        <p14:creationId xmlns:p14="http://schemas.microsoft.com/office/powerpoint/2010/main" val="16519512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Empty Gradient More oran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294353-8035-B7D0-6838-7C90396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62895" y="0"/>
            <a:ext cx="9736666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79794-4113-8EF1-F6DE-868FFC90F6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4599" y="228600"/>
            <a:ext cx="1724160" cy="741509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CAA5870C-E62C-4FB1-C139-D5C844370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9" y="4648200"/>
            <a:ext cx="5457959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9DFB360-2898-F770-376B-9DD512A25B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24600" y="2236304"/>
            <a:ext cx="5534158" cy="2031325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100000"/>
              </a:lnSpc>
              <a:defRPr sz="66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POWERPOINTTEMPLATE</a:t>
            </a:r>
          </a:p>
        </p:txBody>
      </p:sp>
    </p:spTree>
    <p:extLst>
      <p:ext uri="{BB962C8B-B14F-4D97-AF65-F5344CB8AC3E}">
        <p14:creationId xmlns:p14="http://schemas.microsoft.com/office/powerpoint/2010/main" val="1362857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nal Slide Thank you 1">
    <p:bg>
      <p:bgPr>
        <a:gradFill>
          <a:gsLst>
            <a:gs pos="50000">
              <a:schemeClr val="accent2"/>
            </a:gs>
            <a:gs pos="0">
              <a:schemeClr val="accent5">
                <a:lumMod val="60000"/>
                <a:lumOff val="40000"/>
              </a:schemeClr>
            </a:gs>
            <a:gs pos="100000">
              <a:schemeClr val="accent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C013EC2A-C72B-1AB5-83F7-CD6C2D8740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67100" y="2921169"/>
            <a:ext cx="5257800" cy="1015663"/>
          </a:xfrm>
        </p:spPr>
        <p:txBody>
          <a:bodyPr wrap="square" lIns="36000" rIns="36000" bIns="0" anchor="b" anchorCtr="0">
            <a:spAutoFit/>
          </a:bodyPr>
          <a:lstStyle>
            <a:lvl1pPr algn="ctr">
              <a:lnSpc>
                <a:spcPct val="100000"/>
              </a:lnSpc>
              <a:defRPr sz="66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THANK YOU!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04BF44-AB57-6947-2F27-FB89BE56E89D}"/>
              </a:ext>
            </a:extLst>
          </p:cNvPr>
          <p:cNvSpPr/>
          <p:nvPr userDrawn="1"/>
        </p:nvSpPr>
        <p:spPr>
          <a:xfrm>
            <a:off x="426720" y="6077992"/>
            <a:ext cx="6507480" cy="38472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Mastek.</a:t>
            </a:r>
          </a:p>
          <a:p>
            <a:pPr>
              <a:spcAft>
                <a:spcPts val="600"/>
              </a:spcAft>
            </a:pPr>
            <a:r>
              <a:rPr lang="en-US" sz="1000" noProof="0">
                <a:solidFill>
                  <a:schemeClr val="bg1"/>
                </a:solidFill>
                <a:latin typeface="+mn-lt"/>
                <a:cs typeface="Arial"/>
              </a:rPr>
              <a:t>Copyright © 2025 Mastek. All rights reserved.</a:t>
            </a:r>
          </a:p>
        </p:txBody>
      </p:sp>
      <p:pic>
        <p:nvPicPr>
          <p:cNvPr id="3" name="Picture 2" descr="D:\My Work\Template\Icons\Social Media\LinkedIN.png">
            <a:hlinkClick r:id="rId2"/>
            <a:extLst>
              <a:ext uri="{FF2B5EF4-FFF2-40B4-BE49-F238E27FC236}">
                <a16:creationId xmlns:a16="http://schemas.microsoft.com/office/drawing/2014/main" id="{47028C02-C913-E45C-0E1E-24A03BFAA1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06" y="5486400"/>
            <a:ext cx="347541" cy="347541"/>
          </a:xfrm>
          <a:prstGeom prst="rect">
            <a:avLst/>
          </a:prstGeom>
          <a:noFill/>
        </p:spPr>
      </p:pic>
      <p:pic>
        <p:nvPicPr>
          <p:cNvPr id="4" name="Picture 6" descr="D:\My Work\Template\Icons\Social Media\YouTube.png">
            <a:hlinkClick r:id="rId5"/>
            <a:extLst>
              <a:ext uri="{FF2B5EF4-FFF2-40B4-BE49-F238E27FC236}">
                <a16:creationId xmlns:a16="http://schemas.microsoft.com/office/drawing/2014/main" id="{8E97446F-47BC-1559-A3CA-CD0500791F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5293" y="5486400"/>
            <a:ext cx="347541" cy="347541"/>
          </a:xfrm>
          <a:prstGeom prst="rect">
            <a:avLst/>
          </a:prstGeom>
          <a:noFill/>
        </p:spPr>
      </p:pic>
      <p:pic>
        <p:nvPicPr>
          <p:cNvPr id="5" name="Picture 7" descr="D:\My Work\Template\Icons\Social Media\Facebook.png">
            <a:hlinkClick r:id="rId8"/>
            <a:extLst>
              <a:ext uri="{FF2B5EF4-FFF2-40B4-BE49-F238E27FC236}">
                <a16:creationId xmlns:a16="http://schemas.microsoft.com/office/drawing/2014/main" id="{9639A84A-350D-422E-B893-C493521B83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4813" y="5486400"/>
            <a:ext cx="347541" cy="347541"/>
          </a:xfrm>
          <a:prstGeom prst="rect">
            <a:avLst/>
          </a:prstGeom>
          <a:noFill/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49F0E4E-AF26-2F0B-B041-E214C5C2C710}"/>
              </a:ext>
            </a:extLst>
          </p:cNvPr>
          <p:cNvGrpSpPr/>
          <p:nvPr userDrawn="1"/>
        </p:nvGrpSpPr>
        <p:grpSpPr>
          <a:xfrm>
            <a:off x="1284986" y="5486400"/>
            <a:ext cx="347541" cy="347541"/>
            <a:chOff x="1188883" y="8515665"/>
            <a:chExt cx="347541" cy="347541"/>
          </a:xfrm>
        </p:grpSpPr>
        <p:pic>
          <p:nvPicPr>
            <p:cNvPr id="7" name="Picture 6">
              <a:hlinkClick r:id="rId11"/>
              <a:extLst>
                <a:ext uri="{FF2B5EF4-FFF2-40B4-BE49-F238E27FC236}">
                  <a16:creationId xmlns:a16="http://schemas.microsoft.com/office/drawing/2014/main" id="{AE2CFE6E-B8A0-3591-6867-A547F714D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hotocopy/>
                      </a14:imgEffect>
                      <a14:imgEffect>
                        <a14:sharpenSoften amount="5000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1271470" y="8608610"/>
              <a:ext cx="179048" cy="182965"/>
            </a:xfrm>
            <a:prstGeom prst="rect">
              <a:avLst/>
            </a:prstGeom>
          </p:spPr>
        </p:pic>
        <p:sp>
          <p:nvSpPr>
            <p:cNvPr id="8" name="Oval 7">
              <a:hlinkClick r:id="rId11"/>
              <a:extLst>
                <a:ext uri="{FF2B5EF4-FFF2-40B4-BE49-F238E27FC236}">
                  <a16:creationId xmlns:a16="http://schemas.microsoft.com/office/drawing/2014/main" id="{70F10A92-39D6-D34F-7448-8A69A1250AF7}"/>
                </a:ext>
              </a:extLst>
            </p:cNvPr>
            <p:cNvSpPr/>
            <p:nvPr/>
          </p:nvSpPr>
          <p:spPr>
            <a:xfrm>
              <a:off x="1188883" y="8515665"/>
              <a:ext cx="347541" cy="347541"/>
            </a:xfrm>
            <a:prstGeom prst="ellipse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F5C5F1E-68E6-1C60-F942-6DD05E70218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82586" y="396714"/>
            <a:ext cx="1694665" cy="72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475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100000">
              <a:srgbClr val="5ECC62"/>
            </a:gs>
            <a:gs pos="0">
              <a:srgbClr val="00168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95FD-E8EE-E470-D881-2EA006FD0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77A85-105D-77E1-27EB-4FC83614B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BC56E-C865-39B7-0429-C230B5DC3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D14CD-B972-3242-95B7-6B5AAA0C59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3C391-CC93-3D5F-FF03-11ED1066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DE4F9-F92D-0902-1FE4-EEB441A91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70ED-F2DA-1C48-9729-A09A564D366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white lines on a black background&#10;&#10;Description automatically generated">
            <a:extLst>
              <a:ext uri="{FF2B5EF4-FFF2-40B4-BE49-F238E27FC236}">
                <a16:creationId xmlns:a16="http://schemas.microsoft.com/office/drawing/2014/main" id="{4BB9F68E-50FC-C807-B0D6-F6CEC1565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flipV="1">
            <a:off x="5246097" y="0"/>
            <a:ext cx="6963069" cy="66852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628A560-C88E-A271-D651-3E3E9455E9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552" y="374277"/>
            <a:ext cx="1454418" cy="63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7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97578679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270" imgH="270" progId="TCLayout.ActiveDocument.1">
                  <p:embed/>
                </p:oleObj>
              </mc:Choice>
              <mc:Fallback>
                <p:oleObj name="think-cell Slide" r:id="rId21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4813" y="1327150"/>
            <a:ext cx="11376880" cy="51355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04813" y="388188"/>
            <a:ext cx="10947772" cy="71671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TITLE</a:t>
            </a:r>
            <a:endParaRPr lang="en-US"/>
          </a:p>
        </p:txBody>
      </p:sp>
      <p:sp>
        <p:nvSpPr>
          <p:cNvPr id="65" name="Rectangle 27">
            <a:extLst>
              <a:ext uri="{FF2B5EF4-FFF2-40B4-BE49-F238E27FC236}">
                <a16:creationId xmlns:a16="http://schemas.microsoft.com/office/drawing/2014/main" id="{5B538C81-213B-41EC-BB81-FEF313C9D880}"/>
              </a:ext>
            </a:extLst>
          </p:cNvPr>
          <p:cNvSpPr/>
          <p:nvPr userDrawn="1"/>
        </p:nvSpPr>
        <p:spPr>
          <a:xfrm>
            <a:off x="40481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0">
                <a:solidFill>
                  <a:schemeClr val="accent3"/>
                </a:solidFill>
                <a:latin typeface="+mn-lt"/>
                <a:cs typeface="Arial" panose="020B0604020202020204" pitchFamily="34" charset="0"/>
              </a:rPr>
              <a:t>InHealth Cloud Migration </a:t>
            </a:r>
          </a:p>
        </p:txBody>
      </p:sp>
      <p:sp>
        <p:nvSpPr>
          <p:cNvPr id="86" name="Retângulo 43">
            <a:extLst>
              <a:ext uri="{FF2B5EF4-FFF2-40B4-BE49-F238E27FC236}">
                <a16:creationId xmlns:a16="http://schemas.microsoft.com/office/drawing/2014/main" id="{5539996C-DD2A-49D6-AFB0-763FCB2EE440}"/>
              </a:ext>
            </a:extLst>
          </p:cNvPr>
          <p:cNvSpPr/>
          <p:nvPr userDrawn="1"/>
        </p:nvSpPr>
        <p:spPr>
          <a:xfrm>
            <a:off x="11744128" y="6517658"/>
            <a:ext cx="229263" cy="24622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1000" smtClean="0">
                <a:solidFill>
                  <a:schemeClr val="accent3"/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1000">
              <a:solidFill>
                <a:schemeClr val="accent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9" name="Rectangle 27">
            <a:extLst>
              <a:ext uri="{FF2B5EF4-FFF2-40B4-BE49-F238E27FC236}">
                <a16:creationId xmlns:a16="http://schemas.microsoft.com/office/drawing/2014/main" id="{01D50803-B26A-4936-A06C-6E086A6DD719}"/>
              </a:ext>
            </a:extLst>
          </p:cNvPr>
          <p:cNvSpPr/>
          <p:nvPr userDrawn="1"/>
        </p:nvSpPr>
        <p:spPr>
          <a:xfrm>
            <a:off x="722707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>
                <a:solidFill>
                  <a:schemeClr val="accent3"/>
                </a:solidFill>
                <a:latin typeface="+mn-lt"/>
                <a:cs typeface="Arial" panose="020B0604020202020204" pitchFamily="34" charset="0"/>
              </a:rPr>
              <a:t>Company Confidential © Mastek 2025. All rights reserved  |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5213DC-A57F-3894-E385-FC9344253BA4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4599" y="228600"/>
            <a:ext cx="1724159" cy="74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0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47" r:id="rId2"/>
    <p:sldLayoutId id="2147483900" r:id="rId3"/>
    <p:sldLayoutId id="2147483999" r:id="rId4"/>
    <p:sldLayoutId id="2147483998" r:id="rId5"/>
    <p:sldLayoutId id="2147483901" r:id="rId6"/>
    <p:sldLayoutId id="2147483960" r:id="rId7"/>
    <p:sldLayoutId id="2147483902" r:id="rId8"/>
    <p:sldLayoutId id="2147483903" r:id="rId9"/>
    <p:sldLayoutId id="2147484125" r:id="rId10"/>
    <p:sldLayoutId id="2147484124" r:id="rId11"/>
    <p:sldLayoutId id="2147484101" r:id="rId12"/>
    <p:sldLayoutId id="2147483905" r:id="rId13"/>
    <p:sldLayoutId id="2147484153" r:id="rId14"/>
    <p:sldLayoutId id="2147484141" r:id="rId15"/>
    <p:sldLayoutId id="2147484149" r:id="rId16"/>
    <p:sldLayoutId id="2147484150" r:id="rId17"/>
    <p:sldLayoutId id="2147484151" r:id="rId18"/>
  </p:sldLayoutIdLst>
  <p:hf hdr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600" b="0" i="0" u="none" strike="noStrike" kern="1200" cap="all" spc="0" normalizeH="0" baseline="0" noProof="0" dirty="0">
          <a:ln>
            <a:noFill/>
          </a:ln>
          <a:solidFill>
            <a:schemeClr val="accent4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36195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Ubuntu" panose="020B0504030602030204" pitchFamily="34" charset="0"/>
        <a:buChar char="–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071" userDrawn="1">
          <p15:clr>
            <a:srgbClr val="F26B43"/>
          </p15:clr>
        </p15:guide>
        <p15:guide id="4" pos="255" userDrawn="1">
          <p15:clr>
            <a:srgbClr val="F26B43"/>
          </p15:clr>
        </p15:guide>
        <p15:guide id="5" orient="horz" pos="836" userDrawn="1">
          <p15:clr>
            <a:srgbClr val="F26B43"/>
          </p15:clr>
        </p15:guide>
        <p15:guide id="6" orient="horz" pos="245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899" userDrawn="1">
          <p15:clr>
            <a:srgbClr val="F26B43"/>
          </p15:clr>
        </p15:guide>
        <p15:guide id="9" pos="37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50D4ADF-A773-F940-1799-12DCB33E4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66599"/>
            <a:ext cx="6080484" cy="815608"/>
          </a:xfrm>
        </p:spPr>
        <p:txBody>
          <a:bodyPr/>
          <a:lstStyle/>
          <a:p>
            <a:r>
              <a:rPr lang="en-US" sz="2400"/>
              <a:t>Spectra Discovery Project-</a:t>
            </a:r>
          </a:p>
          <a:p>
            <a:r>
              <a:rPr lang="en-US" sz="2400"/>
              <a:t>Low Level Design Review Session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024E77-6013-70C0-94A0-106364E4A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1517" y="3631557"/>
            <a:ext cx="6096000" cy="615553"/>
          </a:xfrm>
        </p:spPr>
        <p:txBody>
          <a:bodyPr/>
          <a:lstStyle/>
          <a:p>
            <a:r>
              <a:rPr lang="en-US" sz="4000"/>
              <a:t>Inhealth</a:t>
            </a:r>
          </a:p>
        </p:txBody>
      </p:sp>
    </p:spTree>
    <p:extLst>
      <p:ext uri="{BB962C8B-B14F-4D97-AF65-F5344CB8AC3E}">
        <p14:creationId xmlns:p14="http://schemas.microsoft.com/office/powerpoint/2010/main" val="3184914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AE8B0-D2D8-6BF7-22A9-7DAE5843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AF4A-6254-5200-5C56-10728B20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85" y="-8501"/>
            <a:ext cx="6754623" cy="716711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6B9BDE1-A9A3-9068-AAF8-ABCD872B3217}"/>
              </a:ext>
            </a:extLst>
          </p:cNvPr>
          <p:cNvSpPr/>
          <p:nvPr/>
        </p:nvSpPr>
        <p:spPr>
          <a:xfrm>
            <a:off x="6651057" y="0"/>
            <a:ext cx="5540943" cy="6858000"/>
          </a:xfrm>
          <a:custGeom>
            <a:avLst/>
            <a:gdLst>
              <a:gd name="connsiteX0" fmla="*/ 2930238 w 6186487"/>
              <a:gd name="connsiteY0" fmla="*/ 0 h 6858000"/>
              <a:gd name="connsiteX1" fmla="*/ 6186487 w 6186487"/>
              <a:gd name="connsiteY1" fmla="*/ 0 h 6858000"/>
              <a:gd name="connsiteX2" fmla="*/ 6186487 w 6186487"/>
              <a:gd name="connsiteY2" fmla="*/ 6858000 h 6858000"/>
              <a:gd name="connsiteX3" fmla="*/ 1019404 w 6186487"/>
              <a:gd name="connsiteY3" fmla="*/ 6858000 h 6858000"/>
              <a:gd name="connsiteX4" fmla="*/ 0 w 6186487"/>
              <a:gd name="connsiteY4" fmla="*/ 5062988 h 6858000"/>
              <a:gd name="connsiteX5" fmla="*/ 2930238 w 6186487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86487" h="6858000">
                <a:moveTo>
                  <a:pt x="2930238" y="0"/>
                </a:moveTo>
                <a:lnTo>
                  <a:pt x="6186487" y="0"/>
                </a:lnTo>
                <a:lnTo>
                  <a:pt x="6186487" y="6858000"/>
                </a:lnTo>
                <a:lnTo>
                  <a:pt x="1019404" y="6858000"/>
                </a:lnTo>
                <a:lnTo>
                  <a:pt x="0" y="5062988"/>
                </a:lnTo>
                <a:lnTo>
                  <a:pt x="2930238" y="0"/>
                </a:lnTo>
                <a:close/>
              </a:path>
            </a:pathLst>
          </a:custGeom>
          <a:blipFill>
            <a:blip r:embed="rId3"/>
            <a:stretch>
              <a:fillRect l="80" t="-2889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FED061F9-87DF-64B0-9427-E09090043587}"/>
              </a:ext>
            </a:extLst>
          </p:cNvPr>
          <p:cNvSpPr/>
          <p:nvPr/>
        </p:nvSpPr>
        <p:spPr>
          <a:xfrm flipH="1">
            <a:off x="6559093" y="3276600"/>
            <a:ext cx="2057400" cy="3581400"/>
          </a:xfrm>
          <a:prstGeom prst="chevron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A63F14-E450-7711-96DB-A8EB162973D6}"/>
              </a:ext>
            </a:extLst>
          </p:cNvPr>
          <p:cNvGrpSpPr/>
          <p:nvPr/>
        </p:nvGrpSpPr>
        <p:grpSpPr>
          <a:xfrm>
            <a:off x="401827" y="2012967"/>
            <a:ext cx="958578" cy="958577"/>
            <a:chOff x="511818" y="1404971"/>
            <a:chExt cx="1190523" cy="119052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FD693B-5C17-E963-3707-20C94628341E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BABE45C-BBA9-F41F-1F32-AF7A8ED18C35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02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8B7EE2A-A2E2-77D0-367C-20DE80E0F963}"/>
              </a:ext>
            </a:extLst>
          </p:cNvPr>
          <p:cNvSpPr txBox="1"/>
          <p:nvPr/>
        </p:nvSpPr>
        <p:spPr>
          <a:xfrm>
            <a:off x="1460497" y="2292200"/>
            <a:ext cx="4948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Architecture Overview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CEF6E2-6B70-EBB9-9EF5-A8A05557B19F}"/>
              </a:ext>
            </a:extLst>
          </p:cNvPr>
          <p:cNvCxnSpPr>
            <a:cxnSpLocks/>
          </p:cNvCxnSpPr>
          <p:nvPr/>
        </p:nvCxnSpPr>
        <p:spPr>
          <a:xfrm>
            <a:off x="-6350" y="2492255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117B3C-D01D-E8FF-325C-12AD98B4783B}"/>
              </a:ext>
            </a:extLst>
          </p:cNvPr>
          <p:cNvGrpSpPr/>
          <p:nvPr/>
        </p:nvGrpSpPr>
        <p:grpSpPr>
          <a:xfrm>
            <a:off x="401827" y="3041081"/>
            <a:ext cx="958578" cy="958577"/>
            <a:chOff x="511818" y="1404971"/>
            <a:chExt cx="1190523" cy="1190523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81E947F-3AA0-500E-1CC8-DF093A32461F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EA35AAB-239A-F779-F777-698F3D0E0A93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99000">
                  <a:schemeClr val="accent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03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EE17A9-E84B-1527-6259-4D311914CFAD}"/>
              </a:ext>
            </a:extLst>
          </p:cNvPr>
          <p:cNvCxnSpPr>
            <a:cxnSpLocks/>
          </p:cNvCxnSpPr>
          <p:nvPr/>
        </p:nvCxnSpPr>
        <p:spPr>
          <a:xfrm>
            <a:off x="-6350" y="3520369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18F875-AEE4-EDE0-D38E-0E5AD79CE7AA}"/>
              </a:ext>
            </a:extLst>
          </p:cNvPr>
          <p:cNvGrpSpPr/>
          <p:nvPr/>
        </p:nvGrpSpPr>
        <p:grpSpPr>
          <a:xfrm>
            <a:off x="401827" y="4069195"/>
            <a:ext cx="958578" cy="958577"/>
            <a:chOff x="511818" y="1404971"/>
            <a:chExt cx="1190523" cy="119052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A265628-93FD-7DF3-666C-80FB682960E3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A58B089-586A-A34E-31F0-1C003FC2FE6E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04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7539E3-6FFD-1FC6-D98B-B9A15D86A88F}"/>
              </a:ext>
            </a:extLst>
          </p:cNvPr>
          <p:cNvCxnSpPr>
            <a:cxnSpLocks/>
          </p:cNvCxnSpPr>
          <p:nvPr/>
        </p:nvCxnSpPr>
        <p:spPr>
          <a:xfrm>
            <a:off x="-6350" y="4548483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3ED0804-FB75-6AF5-2484-0CE78A03AF31}"/>
              </a:ext>
            </a:extLst>
          </p:cNvPr>
          <p:cNvSpPr txBox="1"/>
          <p:nvPr/>
        </p:nvSpPr>
        <p:spPr>
          <a:xfrm>
            <a:off x="1437859" y="3287007"/>
            <a:ext cx="4520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Migration Approach &amp; Phasing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A81620-5D8A-A7CF-4E89-17D8CC6A862B}"/>
              </a:ext>
            </a:extLst>
          </p:cNvPr>
          <p:cNvSpPr txBox="1"/>
          <p:nvPr/>
        </p:nvSpPr>
        <p:spPr>
          <a:xfrm>
            <a:off x="1460496" y="4354918"/>
            <a:ext cx="6397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Application Modernisation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E70155-1A44-3789-48AF-882BCB19A4A5}"/>
              </a:ext>
            </a:extLst>
          </p:cNvPr>
          <p:cNvSpPr txBox="1"/>
          <p:nvPr/>
        </p:nvSpPr>
        <p:spPr>
          <a:xfrm>
            <a:off x="1460496" y="1248339"/>
            <a:ext cx="598285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/>
              <a:t>Executive Summary</a:t>
            </a:r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FEA168-4CB3-4451-C55E-64ED4B071B89}"/>
              </a:ext>
            </a:extLst>
          </p:cNvPr>
          <p:cNvCxnSpPr>
            <a:cxnSpLocks/>
          </p:cNvCxnSpPr>
          <p:nvPr/>
        </p:nvCxnSpPr>
        <p:spPr>
          <a:xfrm>
            <a:off x="-18074" y="1437177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F1E346-A339-656A-6E2F-24924CEECD85}"/>
              </a:ext>
            </a:extLst>
          </p:cNvPr>
          <p:cNvGrpSpPr/>
          <p:nvPr/>
        </p:nvGrpSpPr>
        <p:grpSpPr>
          <a:xfrm>
            <a:off x="378380" y="966095"/>
            <a:ext cx="958578" cy="958577"/>
            <a:chOff x="511818" y="1404971"/>
            <a:chExt cx="1190523" cy="119052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B902882-EEDD-C57E-296B-DC9991B92E1C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F369646-07E4-A73C-4A8D-8D0EABFEA009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99000">
                  <a:schemeClr val="accent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400"/>
                <a:t>01</a:t>
              </a: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92B1C5-DEB0-8126-CE61-9035BC9499BA}"/>
              </a:ext>
            </a:extLst>
          </p:cNvPr>
          <p:cNvCxnSpPr>
            <a:cxnSpLocks/>
          </p:cNvCxnSpPr>
          <p:nvPr/>
        </p:nvCxnSpPr>
        <p:spPr>
          <a:xfrm>
            <a:off x="465911" y="699985"/>
            <a:ext cx="79452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9891896-A0DA-2AFC-53F6-A1559A5FE60F}"/>
              </a:ext>
            </a:extLst>
          </p:cNvPr>
          <p:cNvGrpSpPr/>
          <p:nvPr/>
        </p:nvGrpSpPr>
        <p:grpSpPr>
          <a:xfrm>
            <a:off x="401827" y="5142931"/>
            <a:ext cx="958578" cy="958577"/>
            <a:chOff x="511818" y="1404971"/>
            <a:chExt cx="1190523" cy="1190523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CF15178-CF08-71B4-C854-1F7FC2DF5FF5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0E400E0-B8D0-0C5D-F970-0D23222BEC13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99000">
                  <a:schemeClr val="accent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05</a:t>
              </a: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457813-B14F-FEB4-54B7-D1AD40F0A801}"/>
              </a:ext>
            </a:extLst>
          </p:cNvPr>
          <p:cNvCxnSpPr>
            <a:cxnSpLocks/>
          </p:cNvCxnSpPr>
          <p:nvPr/>
        </p:nvCxnSpPr>
        <p:spPr>
          <a:xfrm>
            <a:off x="-6350" y="5622219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4528B5A-D5EE-2F57-3455-BD2005D618AD}"/>
              </a:ext>
            </a:extLst>
          </p:cNvPr>
          <p:cNvSpPr txBox="1"/>
          <p:nvPr/>
        </p:nvSpPr>
        <p:spPr>
          <a:xfrm>
            <a:off x="1437859" y="5424995"/>
            <a:ext cx="6754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Security, Compliance &amp; Governance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288F-D540-7470-6A0B-527C9CEB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7FD96-7E6E-D3CF-DB62-ACF63ED3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85" y="-8501"/>
            <a:ext cx="6754623" cy="716711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3135651-3848-D8B6-46EB-8A6DD178732B}"/>
              </a:ext>
            </a:extLst>
          </p:cNvPr>
          <p:cNvSpPr/>
          <p:nvPr/>
        </p:nvSpPr>
        <p:spPr>
          <a:xfrm>
            <a:off x="6651057" y="0"/>
            <a:ext cx="5540943" cy="6858000"/>
          </a:xfrm>
          <a:custGeom>
            <a:avLst/>
            <a:gdLst>
              <a:gd name="connsiteX0" fmla="*/ 2930238 w 6186487"/>
              <a:gd name="connsiteY0" fmla="*/ 0 h 6858000"/>
              <a:gd name="connsiteX1" fmla="*/ 6186487 w 6186487"/>
              <a:gd name="connsiteY1" fmla="*/ 0 h 6858000"/>
              <a:gd name="connsiteX2" fmla="*/ 6186487 w 6186487"/>
              <a:gd name="connsiteY2" fmla="*/ 6858000 h 6858000"/>
              <a:gd name="connsiteX3" fmla="*/ 1019404 w 6186487"/>
              <a:gd name="connsiteY3" fmla="*/ 6858000 h 6858000"/>
              <a:gd name="connsiteX4" fmla="*/ 0 w 6186487"/>
              <a:gd name="connsiteY4" fmla="*/ 5062988 h 6858000"/>
              <a:gd name="connsiteX5" fmla="*/ 2930238 w 6186487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86487" h="6858000">
                <a:moveTo>
                  <a:pt x="2930238" y="0"/>
                </a:moveTo>
                <a:lnTo>
                  <a:pt x="6186487" y="0"/>
                </a:lnTo>
                <a:lnTo>
                  <a:pt x="6186487" y="6858000"/>
                </a:lnTo>
                <a:lnTo>
                  <a:pt x="1019404" y="6858000"/>
                </a:lnTo>
                <a:lnTo>
                  <a:pt x="0" y="5062988"/>
                </a:lnTo>
                <a:lnTo>
                  <a:pt x="2930238" y="0"/>
                </a:lnTo>
                <a:close/>
              </a:path>
            </a:pathLst>
          </a:custGeom>
          <a:blipFill>
            <a:blip r:embed="rId3"/>
            <a:stretch>
              <a:fillRect l="80" t="-2889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AA5D01FB-3A7A-3DA2-744D-A1AF5C1C4997}"/>
              </a:ext>
            </a:extLst>
          </p:cNvPr>
          <p:cNvSpPr/>
          <p:nvPr/>
        </p:nvSpPr>
        <p:spPr>
          <a:xfrm flipH="1">
            <a:off x="6559093" y="3276600"/>
            <a:ext cx="2057400" cy="3581400"/>
          </a:xfrm>
          <a:prstGeom prst="chevron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8EE57B-0F78-5AF2-E9B4-29F2DE157AA1}"/>
              </a:ext>
            </a:extLst>
          </p:cNvPr>
          <p:cNvGrpSpPr/>
          <p:nvPr/>
        </p:nvGrpSpPr>
        <p:grpSpPr>
          <a:xfrm>
            <a:off x="401827" y="2012967"/>
            <a:ext cx="958578" cy="958577"/>
            <a:chOff x="511818" y="1404971"/>
            <a:chExt cx="1190523" cy="119052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611285D-93DA-96D2-7C28-25FB75DB8AB2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E1E6F6-D2F8-A388-8059-B580EBB78F22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07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63C9773-C7FD-07F1-DFD7-7D823C2F2455}"/>
              </a:ext>
            </a:extLst>
          </p:cNvPr>
          <p:cNvSpPr txBox="1"/>
          <p:nvPr/>
        </p:nvSpPr>
        <p:spPr>
          <a:xfrm>
            <a:off x="1460497" y="2292200"/>
            <a:ext cx="4948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Azure Sizing &amp; Costing (High Level)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846E85-0DD0-D3F9-B83A-DB3EC2F0EFAD}"/>
              </a:ext>
            </a:extLst>
          </p:cNvPr>
          <p:cNvCxnSpPr>
            <a:cxnSpLocks/>
          </p:cNvCxnSpPr>
          <p:nvPr/>
        </p:nvCxnSpPr>
        <p:spPr>
          <a:xfrm>
            <a:off x="-6350" y="2492255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B13B03-2D2C-A34C-C2E5-D9CA5C50D36E}"/>
              </a:ext>
            </a:extLst>
          </p:cNvPr>
          <p:cNvGrpSpPr/>
          <p:nvPr/>
        </p:nvGrpSpPr>
        <p:grpSpPr>
          <a:xfrm>
            <a:off x="401827" y="4045279"/>
            <a:ext cx="958578" cy="958577"/>
            <a:chOff x="511818" y="1404971"/>
            <a:chExt cx="1190523" cy="1190523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AFC1D80-87BA-6044-2303-44D97DA464B2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3BC99F-92D5-0BF8-3B32-51E75281FF0D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99000">
                  <a:schemeClr val="accent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09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FEA75B-0B38-3C0E-AC2A-598673FD4FE1}"/>
              </a:ext>
            </a:extLst>
          </p:cNvPr>
          <p:cNvCxnSpPr>
            <a:cxnSpLocks/>
          </p:cNvCxnSpPr>
          <p:nvPr/>
        </p:nvCxnSpPr>
        <p:spPr>
          <a:xfrm>
            <a:off x="-6350" y="3520369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169AF3-7C09-CC50-4171-2462BB048793}"/>
              </a:ext>
            </a:extLst>
          </p:cNvPr>
          <p:cNvCxnSpPr>
            <a:cxnSpLocks/>
          </p:cNvCxnSpPr>
          <p:nvPr/>
        </p:nvCxnSpPr>
        <p:spPr>
          <a:xfrm>
            <a:off x="-6350" y="4548483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65FF68E-9CFB-D0ED-F493-F1C505AF75A9}"/>
              </a:ext>
            </a:extLst>
          </p:cNvPr>
          <p:cNvSpPr txBox="1"/>
          <p:nvPr/>
        </p:nvSpPr>
        <p:spPr>
          <a:xfrm>
            <a:off x="1575821" y="4339901"/>
            <a:ext cx="4520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Key Benefits &amp; Next Steps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08E312-321F-46C5-93BD-146AAAFFF2C9}"/>
              </a:ext>
            </a:extLst>
          </p:cNvPr>
          <p:cNvSpPr txBox="1"/>
          <p:nvPr/>
        </p:nvSpPr>
        <p:spPr>
          <a:xfrm>
            <a:off x="1460496" y="1248339"/>
            <a:ext cx="598285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/>
              <a:t>Disaster Recovery &amp; Operational Model</a:t>
            </a:r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89E445-9535-5B93-46B7-A379A0EB88ED}"/>
              </a:ext>
            </a:extLst>
          </p:cNvPr>
          <p:cNvCxnSpPr>
            <a:cxnSpLocks/>
          </p:cNvCxnSpPr>
          <p:nvPr/>
        </p:nvCxnSpPr>
        <p:spPr>
          <a:xfrm>
            <a:off x="-18074" y="1437177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0ED46AD-24CF-28F6-4C2E-74B03A837CE5}"/>
              </a:ext>
            </a:extLst>
          </p:cNvPr>
          <p:cNvGrpSpPr/>
          <p:nvPr/>
        </p:nvGrpSpPr>
        <p:grpSpPr>
          <a:xfrm>
            <a:off x="378380" y="966095"/>
            <a:ext cx="958578" cy="958577"/>
            <a:chOff x="511818" y="1404971"/>
            <a:chExt cx="1190523" cy="119052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9FEC3EC-9CA1-B47E-CD0E-DF20DAB7231E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F88C053-594E-F642-A0A4-B5E1727C34C6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99000">
                  <a:schemeClr val="accent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400"/>
                <a:t>06</a:t>
              </a: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C1382B-BC1F-3E3C-4D0F-AA2AF8343FEE}"/>
              </a:ext>
            </a:extLst>
          </p:cNvPr>
          <p:cNvCxnSpPr>
            <a:cxnSpLocks/>
          </p:cNvCxnSpPr>
          <p:nvPr/>
        </p:nvCxnSpPr>
        <p:spPr>
          <a:xfrm>
            <a:off x="465911" y="699985"/>
            <a:ext cx="79452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360E0FB-3340-170E-3996-BBD16727C04E}"/>
              </a:ext>
            </a:extLst>
          </p:cNvPr>
          <p:cNvCxnSpPr>
            <a:cxnSpLocks/>
          </p:cNvCxnSpPr>
          <p:nvPr/>
        </p:nvCxnSpPr>
        <p:spPr>
          <a:xfrm>
            <a:off x="-6350" y="5622219"/>
            <a:ext cx="40817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811622-0672-5C2A-E506-7E58C5868EFA}"/>
              </a:ext>
            </a:extLst>
          </p:cNvPr>
          <p:cNvGrpSpPr/>
          <p:nvPr/>
        </p:nvGrpSpPr>
        <p:grpSpPr>
          <a:xfrm>
            <a:off x="455835" y="3022619"/>
            <a:ext cx="958578" cy="958577"/>
            <a:chOff x="511818" y="1404971"/>
            <a:chExt cx="1190523" cy="119052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1618B7E-62C7-A9EB-C7C6-708791A65F98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073D329-B5CC-33EE-F2B2-C3EAA6FF46A6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99000">
                  <a:schemeClr val="accent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08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44D062E-07F0-4298-D53C-E8BD8DC0ABA4}"/>
              </a:ext>
            </a:extLst>
          </p:cNvPr>
          <p:cNvSpPr txBox="1"/>
          <p:nvPr/>
        </p:nvSpPr>
        <p:spPr>
          <a:xfrm>
            <a:off x="1575821" y="3280611"/>
            <a:ext cx="4520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</a:t>
            </a:r>
            <a:r>
              <a:rPr lang="en-GB"/>
              <a:t>ost Optimisation Options</a:t>
            </a:r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E164DB-AACF-EC75-90D2-3F8B9B1A3B1A}"/>
              </a:ext>
            </a:extLst>
          </p:cNvPr>
          <p:cNvGrpSpPr/>
          <p:nvPr/>
        </p:nvGrpSpPr>
        <p:grpSpPr>
          <a:xfrm>
            <a:off x="455835" y="5119014"/>
            <a:ext cx="958578" cy="958577"/>
            <a:chOff x="511818" y="1404971"/>
            <a:chExt cx="1190523" cy="119052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5B38DF3-53AA-3108-3EA8-DEED695F065A}"/>
                </a:ext>
              </a:extLst>
            </p:cNvPr>
            <p:cNvSpPr/>
            <p:nvPr/>
          </p:nvSpPr>
          <p:spPr>
            <a:xfrm>
              <a:off x="511818" y="1404971"/>
              <a:ext cx="1190523" cy="11905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2CF16F7-78C2-59A5-8D61-2BF56449F7D7}"/>
                </a:ext>
              </a:extLst>
            </p:cNvPr>
            <p:cNvSpPr/>
            <p:nvPr/>
          </p:nvSpPr>
          <p:spPr>
            <a:xfrm>
              <a:off x="608015" y="1501168"/>
              <a:ext cx="998130" cy="998130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99000">
                  <a:schemeClr val="accent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10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133D548-BF0B-42DF-4007-ECF9573869F9}"/>
              </a:ext>
            </a:extLst>
          </p:cNvPr>
          <p:cNvSpPr txBox="1"/>
          <p:nvPr/>
        </p:nvSpPr>
        <p:spPr>
          <a:xfrm>
            <a:off x="1468421" y="5399191"/>
            <a:ext cx="4520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AOB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2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B3D7-3D30-271D-BA3F-01B6D12E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A701-4C35-AB22-10B6-97EF561C2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1" y="0"/>
            <a:ext cx="10947772" cy="716711"/>
          </a:xfrm>
        </p:spPr>
        <p:txBody>
          <a:bodyPr/>
          <a:lstStyle/>
          <a:p>
            <a:r>
              <a:rPr lang="en-US" sz="36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EXECUTIVE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D16B0-559B-20BD-C7F0-45715DA95D34}"/>
              </a:ext>
            </a:extLst>
          </p:cNvPr>
          <p:cNvSpPr txBox="1"/>
          <p:nvPr/>
        </p:nvSpPr>
        <p:spPr>
          <a:xfrm>
            <a:off x="66992" y="863833"/>
            <a:ext cx="121972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b="1">
                <a:latin typeface="+mj-lt"/>
              </a:rPr>
              <a:t>InHealth is modernising the Spectra DESP and Lung Screening platforms by migrating from on-premises infrastructure to Microsoft Azure.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GB">
                <a:latin typeface="+mj-lt"/>
              </a:rPr>
            </a:br>
            <a:r>
              <a:rPr lang="en-GB">
                <a:latin typeface="+mj-lt"/>
              </a:rPr>
              <a:t>The Low-Level Design (LLD) defines a </a:t>
            </a:r>
            <a:r>
              <a:rPr lang="en-GB" b="1">
                <a:latin typeface="+mj-lt"/>
              </a:rPr>
              <a:t>repeatable, secure, scalable and clinically safe architecture</a:t>
            </a:r>
            <a:r>
              <a:rPr lang="en-GB">
                <a:latin typeface="+mj-lt"/>
              </a:rPr>
              <a:t> built using: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lang="en-US" altLang="en-US">
                <a:latin typeface="+mj-lt"/>
              </a:rPr>
              <a:t>Hub-and-Spoke Azure Landing Zone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lang="en-US" altLang="en-US">
                <a:latin typeface="+mj-lt"/>
              </a:rPr>
              <a:t>Container-based App Services for all workloads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lang="en-US" altLang="en-US">
                <a:latin typeface="+mj-lt"/>
              </a:rPr>
              <a:t>Azure Files Premium for high-performance clinical imaging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lang="en-US" altLang="en-US">
                <a:latin typeface="+mj-lt"/>
              </a:rPr>
              <a:t>Azure PostgreSQL Flexible Server per programme instance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r>
              <a:rPr lang="en-US" altLang="en-US">
                <a:latin typeface="+mj-lt"/>
              </a:rPr>
              <a:t>Lift-and-shift Harmony PACS running on Azure VMs with Premium SSD v2/Ultra disks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eriod"/>
            </a:pPr>
            <a:endParaRPr lang="en-US" altLang="en-US">
              <a:latin typeface="+mj-lt"/>
            </a:endParaRPr>
          </a:p>
          <a:p>
            <a:r>
              <a:rPr lang="en-GB" b="1">
                <a:latin typeface="+mj-lt"/>
              </a:rPr>
              <a:t>The migration strategy prioritises:</a:t>
            </a:r>
            <a:endParaRPr lang="en-GB">
              <a:latin typeface="+mj-lt"/>
            </a:endParaRPr>
          </a:p>
          <a:p>
            <a:pPr marL="800100" lvl="1" indent="-342900">
              <a:buFont typeface="+mj-lt"/>
              <a:buAutoNum type="alphaLcPeriod"/>
            </a:pPr>
            <a:r>
              <a:rPr lang="en-GB">
                <a:latin typeface="+mj-lt"/>
              </a:rPr>
              <a:t>Minimal clinical disruption and data integrity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>
                <a:latin typeface="+mj-lt"/>
              </a:rPr>
              <a:t>Strict data residency and private-only networking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>
                <a:latin typeface="+mj-lt"/>
              </a:rPr>
              <a:t>Programme-level isolation for DESP and Lung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>
                <a:latin typeface="+mj-lt"/>
              </a:rPr>
              <a:t>A phased delivery model starting with a POC vertical slice, followed by Dev/Test, and then programme-by-programme production cutovers</a:t>
            </a:r>
          </a:p>
          <a:p>
            <a:pPr lvl="1"/>
            <a:endParaRPr lang="en-GB">
              <a:latin typeface="+mj-lt"/>
            </a:endParaRPr>
          </a:p>
          <a:p>
            <a:r>
              <a:rPr lang="en-GB" b="1">
                <a:latin typeface="+mj-lt"/>
              </a:rPr>
              <a:t>Outcome:</a:t>
            </a:r>
            <a:br>
              <a:rPr lang="en-GB">
                <a:latin typeface="+mj-lt"/>
              </a:rPr>
            </a:br>
            <a:r>
              <a:rPr lang="en-GB">
                <a:latin typeface="+mj-lt"/>
              </a:rPr>
              <a:t>A </a:t>
            </a:r>
            <a:r>
              <a:rPr lang="en-GB" b="1">
                <a:latin typeface="+mj-lt"/>
              </a:rPr>
              <a:t>resilient, secure, modern cloud platform</a:t>
            </a:r>
            <a:r>
              <a:rPr lang="en-GB">
                <a:latin typeface="+mj-lt"/>
              </a:rPr>
              <a:t> that enhances clinical performance, improves reliability, reduces operational overhead, and provides clear cost transparency.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0328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A447-EA47-85CF-18A6-023E3CEAC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A277C-D61D-A99E-37C6-B48B16622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0"/>
            <a:ext cx="10947772" cy="716711"/>
          </a:xfrm>
        </p:spPr>
        <p:txBody>
          <a:bodyPr/>
          <a:lstStyle/>
          <a:p>
            <a:r>
              <a:rPr lang="en-GB" sz="36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Architecture Overview </a:t>
            </a:r>
            <a:endParaRPr lang="en-US" sz="36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00592-EC87-533A-D7BB-57A0A560DD97}"/>
              </a:ext>
            </a:extLst>
          </p:cNvPr>
          <p:cNvSpPr txBox="1"/>
          <p:nvPr/>
        </p:nvSpPr>
        <p:spPr>
          <a:xfrm>
            <a:off x="0" y="925477"/>
            <a:ext cx="12197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/>
              <a:t>The Spectra Azure architecture is designed as a secure, scalable, and repeatable model using InHealth’s Hub-and-Spoke Landing Zone.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5EAACC-26AC-ACD4-50D0-5556FF224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60" y="1492736"/>
            <a:ext cx="7962474" cy="493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28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E437-1DC6-3D32-7005-F94F0FCD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8B29-5DF3-87BA-83F1-78039DB6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0"/>
            <a:ext cx="10947772" cy="716711"/>
          </a:xfrm>
        </p:spPr>
        <p:txBody>
          <a:bodyPr/>
          <a:lstStyle/>
          <a:p>
            <a:r>
              <a:rPr lang="en-GB" sz="36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Architecture Overview </a:t>
            </a:r>
            <a:endParaRPr lang="en-US" sz="36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E3CF5E13-83C8-3147-6C30-047A6B022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859" y="718760"/>
            <a:ext cx="5178176" cy="579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49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760E9-2956-F742-15F9-A78D374A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5E85-205C-A6C7-806E-98F7B151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0"/>
            <a:ext cx="10947772" cy="716711"/>
          </a:xfrm>
        </p:spPr>
        <p:txBody>
          <a:bodyPr/>
          <a:lstStyle/>
          <a:p>
            <a:r>
              <a:rPr lang="en-GB" sz="36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Architecture Overview </a:t>
            </a:r>
            <a:endParaRPr lang="en-US" sz="36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9D054E-F484-A47C-C984-7E2D8B821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17" y="1506843"/>
            <a:ext cx="11312165" cy="420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26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36F6-01E2-F740-1D0D-3B3AD2E4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F42C-F71E-8699-59CB-3F6D5C9F7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0"/>
            <a:ext cx="10947772" cy="716711"/>
          </a:xfrm>
        </p:spPr>
        <p:txBody>
          <a:bodyPr/>
          <a:lstStyle/>
          <a:p>
            <a:r>
              <a:rPr lang="en-GB" sz="36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Architecture Overview </a:t>
            </a:r>
            <a:endParaRPr lang="en-US" sz="36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92AE8-0304-8784-8034-BCB0D702F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80" y="1075263"/>
            <a:ext cx="10621499" cy="479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99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25AE32-0757-CE4F-CB50-CCDC91BE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596A-5650-0029-53BA-DDA0934C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3" y="149692"/>
            <a:ext cx="9105114" cy="716711"/>
          </a:xfrm>
        </p:spPr>
        <p:txBody>
          <a:bodyPr/>
          <a:lstStyle/>
          <a:p>
            <a:br>
              <a:rPr lang="en-GB" sz="34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</a:br>
            <a:r>
              <a:rPr lang="en-GB" sz="34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Key Migration Streams</a:t>
            </a:r>
            <a:endParaRPr lang="en-US" sz="34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5AC36C-58BB-FA64-2D58-708D07DE3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00" y="1562084"/>
            <a:ext cx="10324119" cy="453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92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490F-5C1D-A767-231C-D1EA4DF6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7ED1-8FC7-B15C-D50C-22BA36AB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0"/>
            <a:ext cx="10947772" cy="716711"/>
          </a:xfrm>
        </p:spPr>
        <p:txBody>
          <a:bodyPr/>
          <a:lstStyle/>
          <a:p>
            <a:r>
              <a:rPr lang="en-GB" sz="36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Architecture Overview </a:t>
            </a:r>
            <a:endParaRPr lang="en-US" sz="36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60E7B-7494-37FF-7BFC-913A3F3E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630" y="957607"/>
            <a:ext cx="9351389" cy="548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50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8FC30-A2A0-E30C-7B9B-8B10C6D0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D267-986C-16F5-9927-60661640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10" y="323190"/>
            <a:ext cx="9105114" cy="716711"/>
          </a:xfrm>
        </p:spPr>
        <p:txBody>
          <a:bodyPr/>
          <a:lstStyle/>
          <a:p>
            <a:br>
              <a:rPr lang="en-GB" sz="34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</a:br>
            <a:r>
              <a:rPr lang="en-GB" sz="34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Programme-by-programme migration</a:t>
            </a:r>
            <a:endParaRPr lang="en-US" sz="34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EA98D-10A0-913C-4558-A56B4CC7F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691" y="1215195"/>
            <a:ext cx="8620550" cy="531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13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415EA-0799-7A58-C988-63BFE28E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DD6D-EA7B-9A87-C7BC-FAE85FCB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87" y="140265"/>
            <a:ext cx="9908935" cy="716711"/>
          </a:xfrm>
        </p:spPr>
        <p:txBody>
          <a:bodyPr/>
          <a:lstStyle/>
          <a:p>
            <a:br>
              <a:rPr lang="en-GB" sz="34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</a:br>
            <a:br>
              <a:rPr lang="en-GB" sz="34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</a:br>
            <a:r>
              <a:rPr lang="en-GB" sz="34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Cutover Plan (Per Programme) AND rOLLBACK</a:t>
            </a:r>
            <a:endParaRPr lang="en-US" sz="34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9DD70B-396F-7F32-2415-306E0FC0F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5" y="1046392"/>
            <a:ext cx="9822731" cy="54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29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1CBA-C5A3-CA0E-E243-4AF8F4187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D4CA-3285-1121-F181-44F6FCE6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0"/>
            <a:ext cx="10947772" cy="716711"/>
          </a:xfrm>
        </p:spPr>
        <p:txBody>
          <a:bodyPr/>
          <a:lstStyle/>
          <a:p>
            <a:r>
              <a:rPr lang="en-US" sz="36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Application </a:t>
            </a:r>
            <a:r>
              <a:rPr lang="en-US" sz="3600" err="1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ModerniSation</a:t>
            </a:r>
            <a:endParaRPr lang="en-US" sz="36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ABC99-B67D-C891-6EDB-41ECBA6A4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63" y="1197203"/>
            <a:ext cx="11650804" cy="498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04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493D-48F0-8871-72D7-5998E985B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F978-81E3-434D-EDB3-D1416874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99" y="286463"/>
            <a:ext cx="9814295" cy="370348"/>
          </a:xfrm>
        </p:spPr>
        <p:txBody>
          <a:bodyPr/>
          <a:lstStyle/>
          <a:p>
            <a:r>
              <a:rPr lang="en-GB" sz="32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ea typeface="+mj-lt"/>
                <a:cs typeface="+mj-lt"/>
              </a:rPr>
              <a:t>Security, Compliance &amp; Governance</a:t>
            </a:r>
            <a:endParaRPr lang="en-US" sz="32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ea typeface="+mj-lt"/>
              <a:cs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CC7079-991C-ED7D-D035-62D0F273B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23" y="1373154"/>
            <a:ext cx="10085570" cy="491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78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AB9C-ADB2-0D94-94C7-103D8422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6362-38BD-2FEB-7E7E-5F2B867C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47" y="509048"/>
            <a:ext cx="10947772" cy="716711"/>
          </a:xfrm>
        </p:spPr>
        <p:txBody>
          <a:bodyPr/>
          <a:lstStyle/>
          <a:p>
            <a:r>
              <a:rPr lang="en-GB" sz="36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Disaster Recovery &amp; Operational Model</a:t>
            </a:r>
            <a:br>
              <a:rPr lang="en-GB" sz="3600" b="1" kern="100">
                <a:solidFill>
                  <a:prstClr val="white"/>
                </a:solidFill>
                <a:latin typeface="Titillium Web"/>
                <a:cs typeface="Times New Roman"/>
              </a:rPr>
            </a:br>
            <a:endParaRPr lang="en-US" sz="36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EE2EA9-4FEF-3B48-1AE0-B0DEBAF4E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14" y="1103445"/>
            <a:ext cx="10947772" cy="495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74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5582-59DA-A11E-FD2F-56B82743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3CFBDF-961C-EF98-7ABC-B9578C48CA8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9146" y="0"/>
            <a:ext cx="6924404" cy="6857999"/>
          </a:xfrm>
          <a:custGeom>
            <a:avLst/>
            <a:gdLst>
              <a:gd name="connsiteX0" fmla="*/ 3129719 w 6924404"/>
              <a:gd name="connsiteY0" fmla="*/ 0 h 6858000"/>
              <a:gd name="connsiteX1" fmla="*/ 6065415 w 6924404"/>
              <a:gd name="connsiteY1" fmla="*/ 0 h 6858000"/>
              <a:gd name="connsiteX2" fmla="*/ 6924404 w 6924404"/>
              <a:gd name="connsiteY2" fmla="*/ 858989 h 6858000"/>
              <a:gd name="connsiteX3" fmla="*/ 6924404 w 6924404"/>
              <a:gd name="connsiteY3" fmla="*/ 6000658 h 6858000"/>
              <a:gd name="connsiteX4" fmla="*/ 6067062 w 6924404"/>
              <a:gd name="connsiteY4" fmla="*/ 6858000 h 6858000"/>
              <a:gd name="connsiteX5" fmla="*/ 3083848 w 6924404"/>
              <a:gd name="connsiteY5" fmla="*/ 6858000 h 6858000"/>
              <a:gd name="connsiteX6" fmla="*/ 227842 w 6924404"/>
              <a:gd name="connsiteY6" fmla="*/ 4001993 h 6858000"/>
              <a:gd name="connsiteX7" fmla="*/ 227842 w 6924404"/>
              <a:gd name="connsiteY7" fmla="*/ 29018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4404" h="6858000">
                <a:moveTo>
                  <a:pt x="3129719" y="0"/>
                </a:moveTo>
                <a:lnTo>
                  <a:pt x="6065415" y="0"/>
                </a:lnTo>
                <a:lnTo>
                  <a:pt x="6924404" y="858989"/>
                </a:lnTo>
                <a:lnTo>
                  <a:pt x="6924404" y="6000658"/>
                </a:lnTo>
                <a:lnTo>
                  <a:pt x="6067062" y="6858000"/>
                </a:lnTo>
                <a:lnTo>
                  <a:pt x="3083848" y="6858000"/>
                </a:lnTo>
                <a:lnTo>
                  <a:pt x="227842" y="4001993"/>
                </a:lnTo>
                <a:cubicBezTo>
                  <a:pt x="-75947" y="3698205"/>
                  <a:pt x="-75947" y="3205667"/>
                  <a:pt x="227842" y="2901878"/>
                </a:cubicBezTo>
                <a:close/>
              </a:path>
            </a:pathLst>
          </a:cu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FA3D8C9-5946-C879-B63D-DF5DBB483ADB}"/>
              </a:ext>
            </a:extLst>
          </p:cNvPr>
          <p:cNvSpPr/>
          <p:nvPr/>
        </p:nvSpPr>
        <p:spPr>
          <a:xfrm rot="18900000">
            <a:off x="7732572" y="-34178"/>
            <a:ext cx="6957624" cy="6926353"/>
          </a:xfrm>
          <a:prstGeom prst="roundRect">
            <a:avLst>
              <a:gd name="adj" fmla="val 11231"/>
            </a:avLst>
          </a:prstGeom>
          <a:noFill/>
          <a:ln w="146050">
            <a:solidFill>
              <a:srgbClr val="0F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55D6F-FA6B-AFF8-DF60-83CD0745D7F8}"/>
              </a:ext>
            </a:extLst>
          </p:cNvPr>
          <p:cNvSpPr txBox="1"/>
          <p:nvPr/>
        </p:nvSpPr>
        <p:spPr>
          <a:xfrm>
            <a:off x="474792" y="2199387"/>
            <a:ext cx="6104354" cy="5924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lnSpc>
                <a:spcPts val="3900"/>
              </a:lnSpc>
              <a:spcAft>
                <a:spcPts val="600"/>
              </a:spcAft>
              <a:defRPr/>
            </a:pPr>
            <a:r>
              <a:rPr lang="en-GB" sz="4000" b="1" kern="100">
                <a:solidFill>
                  <a:prstClr val="white"/>
                </a:solidFill>
                <a:latin typeface="+mj-lt"/>
                <a:cs typeface="Times New Roman"/>
              </a:rPr>
              <a:t>Azure Sizing &amp; Costing</a:t>
            </a:r>
          </a:p>
        </p:txBody>
      </p:sp>
    </p:spTree>
    <p:extLst>
      <p:ext uri="{BB962C8B-B14F-4D97-AF65-F5344CB8AC3E}">
        <p14:creationId xmlns:p14="http://schemas.microsoft.com/office/powerpoint/2010/main" val="331337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2EB1-8021-2037-F936-ED48776B4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95D8AF-BDA1-4FCB-C558-45D069FB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9" y="34978"/>
            <a:ext cx="10947772" cy="716711"/>
          </a:xfrm>
        </p:spPr>
        <p:txBody>
          <a:bodyPr/>
          <a:lstStyle/>
          <a:p>
            <a:r>
              <a:rPr lang="en-GB" sz="2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AZURE SIZING AND COSTING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F6B1E-8598-63F7-1F93-DCB393BA7912}"/>
              </a:ext>
            </a:extLst>
          </p:cNvPr>
          <p:cNvSpPr txBox="1"/>
          <p:nvPr/>
        </p:nvSpPr>
        <p:spPr>
          <a:xfrm>
            <a:off x="144931" y="882967"/>
            <a:ext cx="9518571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Cost estimates are based on a worst-case scenario using the current data available. Some gaps remain due to incomplete information from the Discovery tool (Dr. Migrate)</a:t>
            </a:r>
          </a:p>
          <a:p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Cost per month is calculated per programme instance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Shared services and shared storage remain static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POC cost is a one-off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Storage costs are calculated by tiering (Premium, Cool, Cold)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Grand Total represents the full annual cost Year-3 costs are expected to decrease</a:t>
            </a:r>
            <a:endParaRPr lang="en-US" sz="1600"/>
          </a:p>
        </p:txBody>
      </p:sp>
      <p:pic>
        <p:nvPicPr>
          <p:cNvPr id="10" name="Picture 9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072174BE-0450-E1BD-E936-3B6DEF020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59" y="3006625"/>
            <a:ext cx="7977410" cy="249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00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53F1C-A405-9C38-2555-3011278B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E16C31-96D6-61EF-AB81-F6E5C191FBE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9146" y="0"/>
            <a:ext cx="6924404" cy="6857999"/>
          </a:xfrm>
          <a:custGeom>
            <a:avLst/>
            <a:gdLst>
              <a:gd name="connsiteX0" fmla="*/ 3129719 w 6924404"/>
              <a:gd name="connsiteY0" fmla="*/ 0 h 6858000"/>
              <a:gd name="connsiteX1" fmla="*/ 6065415 w 6924404"/>
              <a:gd name="connsiteY1" fmla="*/ 0 h 6858000"/>
              <a:gd name="connsiteX2" fmla="*/ 6924404 w 6924404"/>
              <a:gd name="connsiteY2" fmla="*/ 858989 h 6858000"/>
              <a:gd name="connsiteX3" fmla="*/ 6924404 w 6924404"/>
              <a:gd name="connsiteY3" fmla="*/ 6000658 h 6858000"/>
              <a:gd name="connsiteX4" fmla="*/ 6067062 w 6924404"/>
              <a:gd name="connsiteY4" fmla="*/ 6858000 h 6858000"/>
              <a:gd name="connsiteX5" fmla="*/ 3083848 w 6924404"/>
              <a:gd name="connsiteY5" fmla="*/ 6858000 h 6858000"/>
              <a:gd name="connsiteX6" fmla="*/ 227842 w 6924404"/>
              <a:gd name="connsiteY6" fmla="*/ 4001993 h 6858000"/>
              <a:gd name="connsiteX7" fmla="*/ 227842 w 6924404"/>
              <a:gd name="connsiteY7" fmla="*/ 29018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4404" h="6858000">
                <a:moveTo>
                  <a:pt x="3129719" y="0"/>
                </a:moveTo>
                <a:lnTo>
                  <a:pt x="6065415" y="0"/>
                </a:lnTo>
                <a:lnTo>
                  <a:pt x="6924404" y="858989"/>
                </a:lnTo>
                <a:lnTo>
                  <a:pt x="6924404" y="6000658"/>
                </a:lnTo>
                <a:lnTo>
                  <a:pt x="6067062" y="6858000"/>
                </a:lnTo>
                <a:lnTo>
                  <a:pt x="3083848" y="6858000"/>
                </a:lnTo>
                <a:lnTo>
                  <a:pt x="227842" y="4001993"/>
                </a:lnTo>
                <a:cubicBezTo>
                  <a:pt x="-75947" y="3698205"/>
                  <a:pt x="-75947" y="3205667"/>
                  <a:pt x="227842" y="2901878"/>
                </a:cubicBezTo>
                <a:close/>
              </a:path>
            </a:pathLst>
          </a:cu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292BDF5-922B-3CEE-B1E6-93870550D448}"/>
              </a:ext>
            </a:extLst>
          </p:cNvPr>
          <p:cNvSpPr/>
          <p:nvPr/>
        </p:nvSpPr>
        <p:spPr>
          <a:xfrm rot="18900000">
            <a:off x="7732572" y="-34178"/>
            <a:ext cx="6957624" cy="6926353"/>
          </a:xfrm>
          <a:prstGeom prst="roundRect">
            <a:avLst>
              <a:gd name="adj" fmla="val 11231"/>
            </a:avLst>
          </a:prstGeom>
          <a:noFill/>
          <a:ln w="146050">
            <a:solidFill>
              <a:srgbClr val="0F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23544-22D1-EEA5-ACED-0973222D0010}"/>
              </a:ext>
            </a:extLst>
          </p:cNvPr>
          <p:cNvSpPr txBox="1"/>
          <p:nvPr/>
        </p:nvSpPr>
        <p:spPr>
          <a:xfrm>
            <a:off x="474792" y="2199387"/>
            <a:ext cx="6702756" cy="5924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lnSpc>
                <a:spcPts val="3900"/>
              </a:lnSpc>
              <a:spcAft>
                <a:spcPts val="600"/>
              </a:spcAft>
              <a:defRPr/>
            </a:pPr>
            <a:r>
              <a:rPr lang="en-GB" sz="4000" b="1" kern="100">
                <a:solidFill>
                  <a:prstClr val="white"/>
                </a:solidFill>
                <a:latin typeface="+mj-lt"/>
                <a:cs typeface="Times New Roman"/>
              </a:rPr>
              <a:t>Cost Optimisation Options</a:t>
            </a:r>
          </a:p>
        </p:txBody>
      </p:sp>
    </p:spTree>
    <p:extLst>
      <p:ext uri="{BB962C8B-B14F-4D97-AF65-F5344CB8AC3E}">
        <p14:creationId xmlns:p14="http://schemas.microsoft.com/office/powerpoint/2010/main" val="1771778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D8EA8-AE54-69E5-BF57-036134ED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094A67-6D41-15B4-AD70-D621AFDCB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8" y="133457"/>
            <a:ext cx="10947772" cy="441186"/>
          </a:xfrm>
        </p:spPr>
        <p:txBody>
          <a:bodyPr/>
          <a:lstStyle/>
          <a:p>
            <a:r>
              <a:rPr lang="en-GB" sz="2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Cost Optimisation Options 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7FC13-9D18-12AF-2BAF-9FC44D3F08CE}"/>
              </a:ext>
            </a:extLst>
          </p:cNvPr>
          <p:cNvSpPr txBox="1"/>
          <p:nvPr/>
        </p:nvSpPr>
        <p:spPr>
          <a:xfrm>
            <a:off x="58120" y="1005331"/>
            <a:ext cx="52823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Optimisation 1 — Consolidate App Service Plans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F2EAE5-D82D-9D93-F26F-3128A4639ED5}"/>
              </a:ext>
            </a:extLst>
          </p:cNvPr>
          <p:cNvSpPr txBox="1"/>
          <p:nvPr/>
        </p:nvSpPr>
        <p:spPr>
          <a:xfrm>
            <a:off x="232474" y="1715576"/>
            <a:ext cx="4774340" cy="3600986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What we can do</a:t>
            </a:r>
          </a:p>
          <a:p>
            <a:r>
              <a:rPr lang="en-US" sz="1600"/>
              <a:t>Move multiple low-usage workloads onto a </a:t>
            </a:r>
            <a:r>
              <a:rPr lang="en-US" sz="1600" i="1"/>
              <a:t>shared</a:t>
            </a:r>
            <a:r>
              <a:rPr lang="en-US" sz="1600"/>
              <a:t> App Service Plan (ASP) instead of separate P1v3/P2v3 plans</a:t>
            </a:r>
          </a:p>
          <a:p>
            <a:endParaRPr lang="en-US" sz="1600"/>
          </a:p>
          <a:p>
            <a:r>
              <a:rPr lang="en-US" sz="1600" b="1"/>
              <a:t>Consolidation examples:</a:t>
            </a:r>
          </a:p>
          <a:p>
            <a:pPr marL="228600" indent="-228600">
              <a:buFont typeface=""/>
              <a:buChar char="•"/>
            </a:pPr>
            <a:r>
              <a:rPr lang="en-US" sz="1600"/>
              <a:t>PM + PM Background Jobs (same programme)</a:t>
            </a:r>
          </a:p>
          <a:p>
            <a:pPr marL="228600" indent="-228600">
              <a:buFont typeface=""/>
              <a:buChar char="•"/>
            </a:pPr>
            <a:r>
              <a:rPr lang="en-US" sz="1600"/>
              <a:t>Patient Portal + Portal Image Service</a:t>
            </a:r>
          </a:p>
          <a:p>
            <a:pPr marL="228600" indent="-228600">
              <a:buFont typeface=""/>
              <a:buChar char="•"/>
            </a:pPr>
            <a:r>
              <a:rPr lang="en-US" sz="1600"/>
              <a:t>Instant Booking + Booking Middleware</a:t>
            </a:r>
          </a:p>
          <a:p>
            <a:pPr marL="228600" indent="-228600">
              <a:buFont typeface=""/>
              <a:buChar char="•"/>
            </a:pPr>
            <a:r>
              <a:rPr lang="en-US" sz="1600"/>
              <a:t>ETL Service + ETL Portal (if still active)</a:t>
            </a:r>
          </a:p>
          <a:p>
            <a:pPr marL="228600" indent="-228600">
              <a:buFont typeface=""/>
              <a:buChar char="•"/>
            </a:pPr>
            <a:endParaRPr lang="en-US" sz="1600"/>
          </a:p>
          <a:p>
            <a:r>
              <a:rPr lang="en-US" sz="1600" b="1"/>
              <a:t>Expected Saving</a:t>
            </a:r>
          </a:p>
          <a:p>
            <a:r>
              <a:rPr lang="en-US" sz="1600"/>
              <a:t>30–45% per programme</a:t>
            </a:r>
          </a:p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889139A-C5D4-E1BC-567B-3C22D15B9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128771"/>
              </p:ext>
            </p:extLst>
          </p:nvPr>
        </p:nvGraphicFramePr>
        <p:xfrm>
          <a:off x="5781728" y="1261390"/>
          <a:ext cx="6071067" cy="2560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85261">
                  <a:extLst>
                    <a:ext uri="{9D8B030D-6E8A-4147-A177-3AD203B41FA5}">
                      <a16:colId xmlns:a16="http://schemas.microsoft.com/office/drawing/2014/main" val="3586648316"/>
                    </a:ext>
                  </a:extLst>
                </a:gridCol>
                <a:gridCol w="4285806">
                  <a:extLst>
                    <a:ext uri="{9D8B030D-6E8A-4147-A177-3AD203B41FA5}">
                      <a16:colId xmlns:a16="http://schemas.microsoft.com/office/drawing/2014/main" val="576847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Risk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Description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495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Performance contention</a:t>
                      </a:r>
                      <a:endParaRPr lang="en-US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One app consuming high CPU/memory impacts others (“noisy neighbour”).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62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Bigger blast radius</a:t>
                      </a:r>
                      <a:endParaRPr lang="en-US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Restarting the shared App Service Plan affects all apps hosted on it.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3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Loss of release independence</a:t>
                      </a:r>
                      <a:endParaRPr lang="en-US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Deployment or configuration changes on one app may require restarts of the entire plan.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352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Security boundary dilution</a:t>
                      </a:r>
                      <a:endParaRPr lang="en-US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Sharing infrastructure may reduce perceived isolation between clinical and non-clinical apps.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703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Harder cost attribution</a:t>
                      </a:r>
                      <a:endParaRPr lang="en-US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Cost split across multiple programmes may become unclear.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9294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96983A4-57CC-BA2B-CAE3-A19DCD72C07F}"/>
              </a:ext>
            </a:extLst>
          </p:cNvPr>
          <p:cNvSpPr txBox="1"/>
          <p:nvPr/>
        </p:nvSpPr>
        <p:spPr>
          <a:xfrm>
            <a:off x="5781728" y="4135034"/>
            <a:ext cx="6177797" cy="24622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Mitigation</a:t>
            </a:r>
          </a:p>
          <a:p>
            <a:pPr marL="228600" indent="-228600">
              <a:buFont typeface=""/>
              <a:buChar char="•"/>
            </a:pPr>
            <a:r>
              <a:rPr lang="en-US" sz="1400"/>
              <a:t>Right-size the ASP (use P2v3 for heavy workloads) and monitor capacity (CPU, memory, HTTP queue).</a:t>
            </a:r>
          </a:p>
          <a:p>
            <a:pPr marL="228600" indent="-228600">
              <a:buFont typeface=""/>
              <a:buChar char="•"/>
            </a:pPr>
            <a:r>
              <a:rPr lang="en-US" sz="1400"/>
              <a:t>Autoscale rules to expand during peaks.</a:t>
            </a:r>
          </a:p>
          <a:p>
            <a:pPr marL="228600" indent="-228600">
              <a:buFont typeface=""/>
              <a:buChar char="•"/>
            </a:pPr>
            <a:r>
              <a:rPr lang="en-US" sz="1400"/>
              <a:t>Set per-app CPU throttling using App Service quotas for non-critical apps.</a:t>
            </a:r>
          </a:p>
          <a:p>
            <a:pPr marL="228600" indent="-228600">
              <a:buFont typeface=""/>
              <a:buChar char="•"/>
            </a:pPr>
            <a:r>
              <a:rPr lang="en-US" sz="1400"/>
              <a:t>Apply strict deployment windows to avoid clashes.</a:t>
            </a:r>
          </a:p>
          <a:p>
            <a:pPr marL="228600" indent="-228600">
              <a:buFont typeface=""/>
              <a:buChar char="•"/>
            </a:pPr>
            <a:r>
              <a:rPr lang="en-US" sz="1400"/>
              <a:t>Use Azure Tags for full programme-level cost attribution.</a:t>
            </a:r>
          </a:p>
          <a:p>
            <a:pPr marL="228600" indent="-228600">
              <a:buFont typeface=""/>
              <a:buChar char="•"/>
            </a:pPr>
            <a:r>
              <a:rPr lang="en-US" sz="1400"/>
              <a:t>Split out high-load apps (e.g., PACS Integration) into dedicated plans if needed.</a:t>
            </a:r>
          </a:p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948193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D0CDC-3EED-BFC8-1E1E-7D39574D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1AAD5B-7B07-A924-3AA4-941A82AA4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8" y="133457"/>
            <a:ext cx="10947772" cy="441186"/>
          </a:xfrm>
        </p:spPr>
        <p:txBody>
          <a:bodyPr/>
          <a:lstStyle/>
          <a:p>
            <a:r>
              <a:rPr lang="en-GB" sz="2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Cost Optimisation Options 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58533-2CA7-052A-9BA6-0C7697063508}"/>
              </a:ext>
            </a:extLst>
          </p:cNvPr>
          <p:cNvSpPr txBox="1"/>
          <p:nvPr/>
        </p:nvSpPr>
        <p:spPr>
          <a:xfrm>
            <a:off x="58120" y="1005331"/>
            <a:ext cx="52823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Optimisation 2 — Auto-Scale + Auto-Shrink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438C87-AC80-706F-37F4-2E252D5030FD}"/>
              </a:ext>
            </a:extLst>
          </p:cNvPr>
          <p:cNvSpPr txBox="1"/>
          <p:nvPr/>
        </p:nvSpPr>
        <p:spPr>
          <a:xfrm>
            <a:off x="232474" y="1715576"/>
            <a:ext cx="4774340" cy="3877985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What we can do</a:t>
            </a:r>
            <a:endParaRPr lang="en-US"/>
          </a:p>
          <a:p>
            <a:r>
              <a:rPr lang="en-US" sz="1600">
                <a:ea typeface="+mn-lt"/>
                <a:cs typeface="+mn-lt"/>
              </a:rPr>
              <a:t>Create autoscale rules that dynamically adjust instance count:</a:t>
            </a:r>
            <a:endParaRPr lang="en-US" sz="1600"/>
          </a:p>
          <a:p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Scale-Out Triggers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CPU &gt; 60%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HTTP queue &gt; 20</a:t>
            </a: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Scale-In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Reduce to </a:t>
            </a:r>
            <a:r>
              <a:rPr lang="en-US" sz="1600" b="1">
                <a:ea typeface="+mn-lt"/>
                <a:cs typeface="+mn-lt"/>
              </a:rPr>
              <a:t>1 instance between 9 PM – 6 AM</a:t>
            </a:r>
            <a:r>
              <a:rPr lang="en-US" sz="1600">
                <a:ea typeface="+mn-lt"/>
                <a:cs typeface="+mn-lt"/>
              </a:rPr>
              <a:t> if load is minimal.</a:t>
            </a: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r>
              <a:rPr lang="en-US" sz="1600" b="1"/>
              <a:t>Expected Saving</a:t>
            </a: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15–35%</a:t>
            </a:r>
            <a:endParaRPr lang="en-US" sz="1600"/>
          </a:p>
          <a:p>
            <a:endParaRPr lang="en-US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D4222-8ED4-FAD1-0B8C-4F7CF367356F}"/>
              </a:ext>
            </a:extLst>
          </p:cNvPr>
          <p:cNvSpPr txBox="1"/>
          <p:nvPr/>
        </p:nvSpPr>
        <p:spPr>
          <a:xfrm>
            <a:off x="5648270" y="3924085"/>
            <a:ext cx="6177797" cy="18774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Mitigation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Use </a:t>
            </a:r>
            <a:r>
              <a:rPr lang="en-US" sz="1400" b="1">
                <a:ea typeface="+mn-lt"/>
                <a:cs typeface="+mn-lt"/>
              </a:rPr>
              <a:t>per-app warmup settings</a:t>
            </a:r>
            <a:r>
              <a:rPr lang="en-US" sz="1400">
                <a:ea typeface="+mn-lt"/>
                <a:cs typeface="+mn-lt"/>
              </a:rPr>
              <a:t> (Always On = Enabled).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Use </a:t>
            </a:r>
            <a:r>
              <a:rPr lang="en-US" sz="1400" b="1">
                <a:ea typeface="+mn-lt"/>
                <a:cs typeface="+mn-lt"/>
              </a:rPr>
              <a:t>scheduled scale-down</a:t>
            </a:r>
            <a:r>
              <a:rPr lang="en-US" sz="1400">
                <a:ea typeface="+mn-lt"/>
                <a:cs typeface="+mn-lt"/>
              </a:rPr>
              <a:t>, not only metric-triggered.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Tune autoscale over 2–4 weeks via real usage patterns.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Set </a:t>
            </a:r>
            <a:r>
              <a:rPr lang="en-US" sz="1400" b="1">
                <a:ea typeface="+mn-lt"/>
                <a:cs typeface="+mn-lt"/>
              </a:rPr>
              <a:t>minimum 2 instances</a:t>
            </a:r>
            <a:r>
              <a:rPr lang="en-US" sz="1400">
                <a:ea typeface="+mn-lt"/>
                <a:cs typeface="+mn-lt"/>
              </a:rPr>
              <a:t> for patient-facing workloads (Portal/Booking) during business hours.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Pilot autoscale in </a:t>
            </a:r>
            <a:r>
              <a:rPr lang="en-US" sz="1400" b="1">
                <a:ea typeface="+mn-lt"/>
                <a:cs typeface="+mn-lt"/>
              </a:rPr>
              <a:t>Dev/Test</a:t>
            </a:r>
            <a:r>
              <a:rPr lang="en-US" sz="1400">
                <a:ea typeface="+mn-lt"/>
                <a:cs typeface="+mn-lt"/>
              </a:rPr>
              <a:t> first.</a:t>
            </a:r>
            <a:endParaRPr lang="en-US"/>
          </a:p>
          <a:p>
            <a:endParaRPr lang="en-US" sz="14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6E99A0-FB94-AB51-222F-CA053BA10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640311"/>
              </p:ext>
            </p:extLst>
          </p:nvPr>
        </p:nvGraphicFramePr>
        <p:xfrm>
          <a:off x="5648271" y="1713423"/>
          <a:ext cx="6177796" cy="18774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88898">
                  <a:extLst>
                    <a:ext uri="{9D8B030D-6E8A-4147-A177-3AD203B41FA5}">
                      <a16:colId xmlns:a16="http://schemas.microsoft.com/office/drawing/2014/main" val="3621512447"/>
                    </a:ext>
                  </a:extLst>
                </a:gridCol>
                <a:gridCol w="3088898">
                  <a:extLst>
                    <a:ext uri="{9D8B030D-6E8A-4147-A177-3AD203B41FA5}">
                      <a16:colId xmlns:a16="http://schemas.microsoft.com/office/drawing/2014/main" val="1851775141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Risk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Description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57844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Unexpected auto-scale down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reduce capacity during late-running clinical tasks or spikes.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751911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Cold-start delay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Apps may take a few seconds to warm up after scaling in.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84000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Costs increase if scale-out misconfigured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Poor rules may trigger unnecessary scaling.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49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833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28127-A0A5-F4FE-E891-4BDD1477D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2012BE-856A-59AE-B9C3-5FD927B2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8" y="133457"/>
            <a:ext cx="10947772" cy="441186"/>
          </a:xfrm>
        </p:spPr>
        <p:txBody>
          <a:bodyPr/>
          <a:lstStyle/>
          <a:p>
            <a:r>
              <a:rPr lang="en-GB" sz="2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Cost Optimisation Options 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20594-0772-2655-03F6-1EA4FD97CACF}"/>
              </a:ext>
            </a:extLst>
          </p:cNvPr>
          <p:cNvSpPr txBox="1"/>
          <p:nvPr/>
        </p:nvSpPr>
        <p:spPr>
          <a:xfrm>
            <a:off x="58120" y="1005331"/>
            <a:ext cx="97252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Optimisation 3 — Move Dev/Test to Azure Container Apps (ACA) with Scale-to-Zero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EF45B-19E1-B9AB-892F-8E82220711FD}"/>
              </a:ext>
            </a:extLst>
          </p:cNvPr>
          <p:cNvSpPr txBox="1"/>
          <p:nvPr/>
        </p:nvSpPr>
        <p:spPr>
          <a:xfrm>
            <a:off x="146372" y="1521847"/>
            <a:ext cx="4774340" cy="5262979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What we do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Move non-prod workloads from App Service → ACA.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ACA advantages: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Scale to zero</a:t>
            </a:r>
            <a:r>
              <a:rPr lang="en-US" sz="1400">
                <a:ea typeface="+mn-lt"/>
                <a:cs typeface="+mn-lt"/>
              </a:rPr>
              <a:t>: automatically stops containers when idle.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Pay only for CPU/Memory used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Start/Stop</a:t>
            </a:r>
            <a:r>
              <a:rPr lang="en-US" sz="1400">
                <a:ea typeface="+mn-lt"/>
                <a:cs typeface="+mn-lt"/>
              </a:rPr>
              <a:t> is automatic (no manual scheduler needed).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Workloads ideal for ACA: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Dev/Test Portal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Dev/Test PM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Dev/Test ETL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Dev/Test Instant Booking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Dev/Test PACS Integration Service (non-clinical)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Also include: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Scheduled Start/Stop for App Service Plans</a:t>
            </a:r>
            <a:r>
              <a:rPr lang="en-US" sz="1400">
                <a:ea typeface="+mn-lt"/>
                <a:cs typeface="+mn-lt"/>
              </a:rPr>
              <a:t> if ACA is not adopted.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e.g.,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Start: 8 AM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Stop: 7 PM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Weekend: Stopped completely</a:t>
            </a:r>
            <a:endParaRPr lang="en-US" sz="1400"/>
          </a:p>
          <a:p>
            <a:r>
              <a:rPr lang="en-US" sz="1400" b="1"/>
              <a:t>Expected Saving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60–80% in Dev/Test environments</a:t>
            </a:r>
            <a:endParaRPr lang="en-US" sz="1400"/>
          </a:p>
          <a:p>
            <a:endParaRPr lang="en-US" sz="14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EA7A4-4F69-E061-D275-111A2077851F}"/>
              </a:ext>
            </a:extLst>
          </p:cNvPr>
          <p:cNvSpPr txBox="1"/>
          <p:nvPr/>
        </p:nvSpPr>
        <p:spPr>
          <a:xfrm>
            <a:off x="5389965" y="3812153"/>
            <a:ext cx="6341390" cy="28007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Mitigation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Keep </a:t>
            </a:r>
            <a:r>
              <a:rPr lang="en-US" sz="1600" b="1">
                <a:ea typeface="+mn-lt"/>
                <a:cs typeface="+mn-lt"/>
              </a:rPr>
              <a:t>Always Ready</a:t>
            </a:r>
            <a:r>
              <a:rPr lang="en-US" sz="1600">
                <a:ea typeface="+mn-lt"/>
                <a:cs typeface="+mn-lt"/>
              </a:rPr>
              <a:t> setting ON for critical endpoints (Portal Dev).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Implement </a:t>
            </a:r>
            <a:r>
              <a:rPr lang="en-US" sz="1600" b="1">
                <a:ea typeface="+mn-lt"/>
                <a:cs typeface="+mn-lt"/>
              </a:rPr>
              <a:t>developer-triggered wake-up</a:t>
            </a:r>
            <a:r>
              <a:rPr lang="en-US" sz="1600">
                <a:ea typeface="+mn-lt"/>
                <a:cs typeface="+mn-lt"/>
              </a:rPr>
              <a:t> (HTTP “ping to resume” link).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Use </a:t>
            </a:r>
            <a:r>
              <a:rPr lang="en-US" sz="1600" b="1">
                <a:ea typeface="+mn-lt"/>
                <a:cs typeface="+mn-lt"/>
              </a:rPr>
              <a:t>scheduled ACA revisions</a:t>
            </a:r>
            <a:r>
              <a:rPr lang="en-US" sz="1600">
                <a:ea typeface="+mn-lt"/>
                <a:cs typeface="+mn-lt"/>
              </a:rPr>
              <a:t> to pre-load containers during office hours.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Provide </a:t>
            </a:r>
            <a:r>
              <a:rPr lang="en-US" sz="1600" b="1">
                <a:ea typeface="+mn-lt"/>
                <a:cs typeface="+mn-lt"/>
              </a:rPr>
              <a:t>override scripts</a:t>
            </a:r>
            <a:r>
              <a:rPr lang="en-US" sz="1600">
                <a:ea typeface="+mn-lt"/>
                <a:cs typeface="+mn-lt"/>
              </a:rPr>
              <a:t> for testers (“Start my environment now”).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Maintain </a:t>
            </a:r>
            <a:r>
              <a:rPr lang="en-US" sz="1600" b="1">
                <a:ea typeface="+mn-lt"/>
                <a:cs typeface="+mn-lt"/>
              </a:rPr>
              <a:t>minimum baseline instance = 1</a:t>
            </a:r>
            <a:r>
              <a:rPr lang="en-US" sz="1600">
                <a:ea typeface="+mn-lt"/>
                <a:cs typeface="+mn-lt"/>
              </a:rPr>
              <a:t> during business hours.</a:t>
            </a:r>
            <a:endParaRPr lang="en-US" sz="16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9B09D4-CE5A-047B-8602-AC4BFFF66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035717"/>
              </p:ext>
            </p:extLst>
          </p:nvPr>
        </p:nvGraphicFramePr>
        <p:xfrm>
          <a:off x="5389966" y="1592881"/>
          <a:ext cx="6340964" cy="2072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70482">
                  <a:extLst>
                    <a:ext uri="{9D8B030D-6E8A-4147-A177-3AD203B41FA5}">
                      <a16:colId xmlns:a16="http://schemas.microsoft.com/office/drawing/2014/main" val="3747596936"/>
                    </a:ext>
                  </a:extLst>
                </a:gridCol>
                <a:gridCol w="3170482">
                  <a:extLst>
                    <a:ext uri="{9D8B030D-6E8A-4147-A177-3AD203B41FA5}">
                      <a16:colId xmlns:a16="http://schemas.microsoft.com/office/drawing/2014/main" val="4110195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Risk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Description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07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Cold start delays when ACA resumes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First request after idle period is slow.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329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Developers may be blocked if environment is off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Testers/devs may need environment running at odd hours.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7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Feature differences vs App Service</a:t>
                      </a:r>
                      <a:endParaRPr 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Some App Service capabilities (deployment slots, certain extensions) are not available.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947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317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AD87A-7560-5EB7-D8C9-BCC9E7996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40079C-2996-5011-06C2-4E08D2709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8" y="133457"/>
            <a:ext cx="10947772" cy="441186"/>
          </a:xfrm>
        </p:spPr>
        <p:txBody>
          <a:bodyPr/>
          <a:lstStyle/>
          <a:p>
            <a:r>
              <a:rPr lang="en-GB" sz="2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Cost Optimisation Options 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DC77D-5F7B-3724-1CA8-FEE1B29C481C}"/>
              </a:ext>
            </a:extLst>
          </p:cNvPr>
          <p:cNvSpPr txBox="1"/>
          <p:nvPr/>
        </p:nvSpPr>
        <p:spPr>
          <a:xfrm>
            <a:off x="58120" y="1005331"/>
            <a:ext cx="97252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Optimisation 4 — Reserved Instances for App Service Plans + Storage Reserved Capacity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D3DBAC-30FE-B70F-6CE4-BB86D163C4D1}"/>
              </a:ext>
            </a:extLst>
          </p:cNvPr>
          <p:cNvSpPr txBox="1"/>
          <p:nvPr/>
        </p:nvSpPr>
        <p:spPr>
          <a:xfrm>
            <a:off x="146387" y="1379577"/>
            <a:ext cx="4774340" cy="5478423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What we do</a:t>
            </a:r>
            <a:endParaRPr lang="en-US" sz="1600"/>
          </a:p>
          <a:p>
            <a:r>
              <a:rPr lang="en-US" sz="1400">
                <a:ea typeface="+mn-lt"/>
                <a:cs typeface="+mn-lt"/>
              </a:rPr>
              <a:t>Purchase </a:t>
            </a:r>
            <a:r>
              <a:rPr lang="en-US" sz="1400" b="1">
                <a:ea typeface="+mn-lt"/>
                <a:cs typeface="+mn-lt"/>
              </a:rPr>
              <a:t>Reserved Capacity</a:t>
            </a:r>
            <a:r>
              <a:rPr lang="en-US" sz="1400">
                <a:ea typeface="+mn-lt"/>
                <a:cs typeface="+mn-lt"/>
              </a:rPr>
              <a:t>:</a:t>
            </a:r>
            <a:endParaRPr lang="en-US" sz="1400"/>
          </a:p>
          <a:p>
            <a:r>
              <a:rPr lang="en-US" sz="1400"/>
              <a:t>For App Service Plans:</a:t>
            </a:r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1-year reserved</a:t>
            </a:r>
            <a:r>
              <a:rPr lang="en-US" sz="1400">
                <a:ea typeface="+mn-lt"/>
                <a:cs typeface="+mn-lt"/>
              </a:rPr>
              <a:t> → ~35% reduction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3-year reserved</a:t>
            </a:r>
            <a:r>
              <a:rPr lang="en-US" sz="1400">
                <a:ea typeface="+mn-lt"/>
                <a:cs typeface="+mn-lt"/>
              </a:rPr>
              <a:t> → ~55% reduction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Applicable to: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PM App Services (per programme)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PACS Integration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Patient Portal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ETL Services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Instant Booking</a:t>
            </a:r>
            <a:endParaRPr lang="en-US" sz="1400"/>
          </a:p>
          <a:p>
            <a:r>
              <a:rPr lang="en-US" sz="1400"/>
              <a:t>For Storage (Azure Files &amp; Blob):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Purchase </a:t>
            </a:r>
            <a:r>
              <a:rPr lang="en-US" sz="1400" b="1">
                <a:ea typeface="+mn-lt"/>
                <a:cs typeface="+mn-lt"/>
              </a:rPr>
              <a:t>Reserved Storage Capacity</a:t>
            </a:r>
            <a:r>
              <a:rPr lang="en-US" sz="1400">
                <a:ea typeface="+mn-lt"/>
                <a:cs typeface="+mn-lt"/>
              </a:rPr>
              <a:t> for image storage:</a:t>
            </a:r>
            <a:endParaRPr lang="en-US" sz="1400"/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100 TB / 200 TB / 500 TB tiers</a:t>
            </a:r>
            <a:endParaRPr lang="en-US" sz="1400"/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Available for </a:t>
            </a:r>
            <a:r>
              <a:rPr lang="en-US" sz="1400" b="1">
                <a:ea typeface="+mn-lt"/>
                <a:cs typeface="+mn-lt"/>
              </a:rPr>
              <a:t>Premium Files</a:t>
            </a:r>
            <a:r>
              <a:rPr lang="en-US" sz="1400">
                <a:ea typeface="+mn-lt"/>
                <a:cs typeface="+mn-lt"/>
              </a:rPr>
              <a:t>, </a:t>
            </a:r>
            <a:r>
              <a:rPr lang="en-US" sz="1400" b="1">
                <a:ea typeface="+mn-lt"/>
                <a:cs typeface="+mn-lt"/>
              </a:rPr>
              <a:t>Blob Hot</a:t>
            </a:r>
            <a:r>
              <a:rPr lang="en-US" sz="1400">
                <a:ea typeface="+mn-lt"/>
                <a:cs typeface="+mn-lt"/>
              </a:rPr>
              <a:t>, </a:t>
            </a:r>
            <a:r>
              <a:rPr lang="en-US" sz="1400" b="1">
                <a:ea typeface="+mn-lt"/>
                <a:cs typeface="+mn-lt"/>
              </a:rPr>
              <a:t>Blob Cool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Savings:</a:t>
            </a:r>
            <a:endParaRPr lang="en-US" sz="1400"/>
          </a:p>
          <a:p>
            <a:pPr marL="742950" lvl="1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Azure Files Premium</a:t>
            </a:r>
            <a:r>
              <a:rPr lang="en-US" sz="1400">
                <a:ea typeface="+mn-lt"/>
                <a:cs typeface="+mn-lt"/>
              </a:rPr>
              <a:t> → 20–40%</a:t>
            </a:r>
            <a:endParaRPr lang="en-US" sz="1400"/>
          </a:p>
          <a:p>
            <a:pPr marL="742950" lvl="1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Blob Cool</a:t>
            </a:r>
            <a:r>
              <a:rPr lang="en-US" sz="1400">
                <a:ea typeface="+mn-lt"/>
                <a:cs typeface="+mn-lt"/>
              </a:rPr>
              <a:t> → 38–45%</a:t>
            </a:r>
            <a:endParaRPr lang="en-US" sz="1400"/>
          </a:p>
          <a:p>
            <a:pPr marL="742950" lvl="1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Blob Archive</a:t>
            </a:r>
            <a:r>
              <a:rPr lang="en-US" sz="1400">
                <a:ea typeface="+mn-lt"/>
                <a:cs typeface="+mn-lt"/>
              </a:rPr>
              <a:t> → up to 70–90%</a:t>
            </a:r>
            <a:endParaRPr lang="en-US" sz="1400"/>
          </a:p>
          <a:p>
            <a:pPr lvl="1"/>
            <a:r>
              <a:rPr lang="en-US" sz="1400" b="1"/>
              <a:t>Expected Saving</a:t>
            </a:r>
            <a:endParaRPr lang="en-US" sz="1400"/>
          </a:p>
          <a:p>
            <a:pPr lvl="1"/>
            <a:r>
              <a:rPr lang="en-US" sz="1400" b="1">
                <a:ea typeface="+mn-lt"/>
                <a:cs typeface="+mn-lt"/>
              </a:rPr>
              <a:t>35–55% (App Services)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20–70% (Storage)</a:t>
            </a:r>
            <a:endParaRPr lang="en-US" sz="1400"/>
          </a:p>
          <a:p>
            <a:endParaRPr lang="en-US" sz="12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E8D5F3-5061-A2AC-6F0F-D1C36BA52ABA}"/>
              </a:ext>
            </a:extLst>
          </p:cNvPr>
          <p:cNvSpPr txBox="1"/>
          <p:nvPr/>
        </p:nvSpPr>
        <p:spPr>
          <a:xfrm>
            <a:off x="5204846" y="3429000"/>
            <a:ext cx="6341390" cy="233910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Mitigation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Perform </a:t>
            </a:r>
            <a:r>
              <a:rPr lang="en-US" sz="1600" b="1">
                <a:ea typeface="+mn-lt"/>
                <a:cs typeface="+mn-lt"/>
              </a:rPr>
              <a:t>right-sizing first</a:t>
            </a:r>
            <a:r>
              <a:rPr lang="en-US" sz="1600">
                <a:ea typeface="+mn-lt"/>
                <a:cs typeface="+mn-lt"/>
              </a:rPr>
              <a:t>, then reserve.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Use </a:t>
            </a:r>
            <a:r>
              <a:rPr lang="en-US" sz="1600" b="1">
                <a:ea typeface="+mn-lt"/>
                <a:cs typeface="+mn-lt"/>
              </a:rPr>
              <a:t>monthly usage trend reports</a:t>
            </a:r>
            <a:r>
              <a:rPr lang="en-US" sz="1600">
                <a:ea typeface="+mn-lt"/>
                <a:cs typeface="+mn-lt"/>
              </a:rPr>
              <a:t> for 3 months to determine baseline.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Begin with </a:t>
            </a:r>
            <a:r>
              <a:rPr lang="en-US" sz="1600" b="1">
                <a:ea typeface="+mn-lt"/>
                <a:cs typeface="+mn-lt"/>
              </a:rPr>
              <a:t>1-year reservations</a:t>
            </a:r>
            <a:r>
              <a:rPr lang="en-US" sz="1600">
                <a:ea typeface="+mn-lt"/>
                <a:cs typeface="+mn-lt"/>
              </a:rPr>
              <a:t> where usage is volatile.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Reserve only stable workloads (PM, Portal, Booking).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Apply storage reservations primarily to </a:t>
            </a:r>
            <a:r>
              <a:rPr lang="en-US" sz="1600" b="1">
                <a:ea typeface="+mn-lt"/>
                <a:cs typeface="+mn-lt"/>
              </a:rPr>
              <a:t>predictable image archives</a:t>
            </a:r>
            <a:r>
              <a:rPr lang="en-US" sz="1600">
                <a:ea typeface="+mn-lt"/>
                <a:cs typeface="+mn-lt"/>
              </a:rPr>
              <a:t>, not temporary ETL staging areas.</a:t>
            </a:r>
            <a:endParaRPr lang="en-US"/>
          </a:p>
          <a:p>
            <a:endParaRPr lang="en-US" sz="16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6BE10E-A1A4-9AE9-0C30-267942FE6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857984"/>
              </p:ext>
            </p:extLst>
          </p:nvPr>
        </p:nvGraphicFramePr>
        <p:xfrm>
          <a:off x="5204846" y="1631626"/>
          <a:ext cx="6795439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00807">
                  <a:extLst>
                    <a:ext uri="{9D8B030D-6E8A-4147-A177-3AD203B41FA5}">
                      <a16:colId xmlns:a16="http://schemas.microsoft.com/office/drawing/2014/main" val="1076975104"/>
                    </a:ext>
                  </a:extLst>
                </a:gridCol>
                <a:gridCol w="4594632">
                  <a:extLst>
                    <a:ext uri="{9D8B030D-6E8A-4147-A177-3AD203B41FA5}">
                      <a16:colId xmlns:a16="http://schemas.microsoft.com/office/drawing/2014/main" val="4052903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Risk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Description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837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Commitment risk</a:t>
                      </a:r>
                      <a:endParaRPr lang="en-US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Must commit to 1–3 years usage.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698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Overprovisioning</a:t>
                      </a:r>
                      <a:endParaRPr lang="en-US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Reserving more capacity than needed results in waste.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37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Underestimating growth</a:t>
                      </a:r>
                      <a:endParaRPr lang="en-US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May lock into insufficient storage for image volumes.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77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Tied to region</a:t>
                      </a:r>
                      <a:endParaRPr lang="en-US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Reservations are region-specific (UK South).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334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111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75A8-D1D4-0109-5431-4ACD91370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DDF26-5D53-CBEA-442B-8CDC2EADA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8" y="133457"/>
            <a:ext cx="10947772" cy="441186"/>
          </a:xfrm>
        </p:spPr>
        <p:txBody>
          <a:bodyPr/>
          <a:lstStyle/>
          <a:p>
            <a:r>
              <a:rPr lang="en-GB" sz="2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Cost Optimisation Options </a:t>
            </a:r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A8095F-7A22-79EB-603F-7687EC1F2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123856"/>
              </p:ext>
            </p:extLst>
          </p:nvPr>
        </p:nvGraphicFramePr>
        <p:xfrm>
          <a:off x="960034" y="1477419"/>
          <a:ext cx="10487793" cy="3291840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3669718">
                  <a:extLst>
                    <a:ext uri="{9D8B030D-6E8A-4147-A177-3AD203B41FA5}">
                      <a16:colId xmlns:a16="http://schemas.microsoft.com/office/drawing/2014/main" val="1831483648"/>
                    </a:ext>
                  </a:extLst>
                </a:gridCol>
                <a:gridCol w="2839452">
                  <a:extLst>
                    <a:ext uri="{9D8B030D-6E8A-4147-A177-3AD203B41FA5}">
                      <a16:colId xmlns:a16="http://schemas.microsoft.com/office/drawing/2014/main" val="1293111777"/>
                    </a:ext>
                  </a:extLst>
                </a:gridCol>
                <a:gridCol w="3978623">
                  <a:extLst>
                    <a:ext uri="{9D8B030D-6E8A-4147-A177-3AD203B41FA5}">
                      <a16:colId xmlns:a16="http://schemas.microsoft.com/office/drawing/2014/main" val="31651448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Resulting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 Saving vs Original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955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£817,000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175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+ 2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£734,000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776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+ 3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£671,000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44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+ 4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£600,000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26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+ 2 + 3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£604,000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245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+ 2 + 4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£538,000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5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+ 3 + 4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£523,000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39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+ 2 + 3 + 4 (All Optimisations)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£469,000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223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252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B6707-82A1-3784-F15D-F4FD13D4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673316-7771-6DF1-9B06-586E963E90A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9146" y="0"/>
            <a:ext cx="6924404" cy="6857999"/>
          </a:xfrm>
          <a:custGeom>
            <a:avLst/>
            <a:gdLst>
              <a:gd name="connsiteX0" fmla="*/ 3129719 w 6924404"/>
              <a:gd name="connsiteY0" fmla="*/ 0 h 6858000"/>
              <a:gd name="connsiteX1" fmla="*/ 6065415 w 6924404"/>
              <a:gd name="connsiteY1" fmla="*/ 0 h 6858000"/>
              <a:gd name="connsiteX2" fmla="*/ 6924404 w 6924404"/>
              <a:gd name="connsiteY2" fmla="*/ 858989 h 6858000"/>
              <a:gd name="connsiteX3" fmla="*/ 6924404 w 6924404"/>
              <a:gd name="connsiteY3" fmla="*/ 6000658 h 6858000"/>
              <a:gd name="connsiteX4" fmla="*/ 6067062 w 6924404"/>
              <a:gd name="connsiteY4" fmla="*/ 6858000 h 6858000"/>
              <a:gd name="connsiteX5" fmla="*/ 3083848 w 6924404"/>
              <a:gd name="connsiteY5" fmla="*/ 6858000 h 6858000"/>
              <a:gd name="connsiteX6" fmla="*/ 227842 w 6924404"/>
              <a:gd name="connsiteY6" fmla="*/ 4001993 h 6858000"/>
              <a:gd name="connsiteX7" fmla="*/ 227842 w 6924404"/>
              <a:gd name="connsiteY7" fmla="*/ 29018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4404" h="6858000">
                <a:moveTo>
                  <a:pt x="3129719" y="0"/>
                </a:moveTo>
                <a:lnTo>
                  <a:pt x="6065415" y="0"/>
                </a:lnTo>
                <a:lnTo>
                  <a:pt x="6924404" y="858989"/>
                </a:lnTo>
                <a:lnTo>
                  <a:pt x="6924404" y="6000658"/>
                </a:lnTo>
                <a:lnTo>
                  <a:pt x="6067062" y="6858000"/>
                </a:lnTo>
                <a:lnTo>
                  <a:pt x="3083848" y="6858000"/>
                </a:lnTo>
                <a:lnTo>
                  <a:pt x="227842" y="4001993"/>
                </a:lnTo>
                <a:cubicBezTo>
                  <a:pt x="-75947" y="3698205"/>
                  <a:pt x="-75947" y="3205667"/>
                  <a:pt x="227842" y="2901878"/>
                </a:cubicBezTo>
                <a:close/>
              </a:path>
            </a:pathLst>
          </a:cu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0DD28B-8817-C148-E3C2-18921EC9B1E6}"/>
              </a:ext>
            </a:extLst>
          </p:cNvPr>
          <p:cNvSpPr/>
          <p:nvPr/>
        </p:nvSpPr>
        <p:spPr>
          <a:xfrm rot="18900000">
            <a:off x="7732572" y="-34178"/>
            <a:ext cx="6957624" cy="6926353"/>
          </a:xfrm>
          <a:prstGeom prst="roundRect">
            <a:avLst>
              <a:gd name="adj" fmla="val 11231"/>
            </a:avLst>
          </a:prstGeom>
          <a:noFill/>
          <a:ln w="146050">
            <a:solidFill>
              <a:srgbClr val="0FB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38913-F06E-CAD1-A502-1E75D2710197}"/>
              </a:ext>
            </a:extLst>
          </p:cNvPr>
          <p:cNvSpPr txBox="1"/>
          <p:nvPr/>
        </p:nvSpPr>
        <p:spPr>
          <a:xfrm>
            <a:off x="474791" y="2199387"/>
            <a:ext cx="6532183" cy="5924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lnSpc>
                <a:spcPts val="3900"/>
              </a:lnSpc>
              <a:spcAft>
                <a:spcPts val="600"/>
              </a:spcAft>
              <a:defRPr/>
            </a:pPr>
            <a:r>
              <a:rPr lang="en-GB" sz="4000" b="1" kern="100">
                <a:solidFill>
                  <a:prstClr val="white"/>
                </a:solidFill>
                <a:latin typeface="+mj-lt"/>
                <a:cs typeface="Times New Roman"/>
              </a:rPr>
              <a:t>Key Benefits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2778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40E9F-C36B-8288-3009-9E6EAB81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2FD625-74C4-1A68-C67E-58B0216214C7}"/>
              </a:ext>
            </a:extLst>
          </p:cNvPr>
          <p:cNvSpPr txBox="1"/>
          <p:nvPr/>
        </p:nvSpPr>
        <p:spPr>
          <a:xfrm>
            <a:off x="243873" y="603850"/>
            <a:ext cx="1118131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Key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Scalable application model: Containerised PM, portal, booking, ETL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Faster disaster recovery with PITR databases &amp; rehydrated app services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Future- ready platform for web grading &amp; analytics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Security uplift: Private endpoints, WAF, full firewall inspection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Improved clinical reliability through Azure files premium+ high IOPS Harmony disks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Programme isolation preserved across all workloads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Operational efficiency with managed PaaS (App service, POSTGRESQL, KV)</a:t>
            </a:r>
          </a:p>
          <a:p>
            <a:endParaRPr lang="en-US"/>
          </a:p>
          <a:p>
            <a:r>
              <a:rPr lang="en-US" b="1"/>
              <a:t>Next Steps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Finalise details in the LLD, Azure sizing &amp; costing- 12</a:t>
            </a:r>
            <a:r>
              <a:rPr lang="en-US" baseline="30000"/>
              <a:t>th</a:t>
            </a:r>
            <a:r>
              <a:rPr lang="en-US"/>
              <a:t> Dec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/>
              <a:t>Engaging with our Microsoft partner to secure service credits, enabling additional cost savings for the project</a:t>
            </a:r>
          </a:p>
          <a:p>
            <a:pPr lvl="1"/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draft of SOW004, high level plan and socialise with InHealth-5</a:t>
            </a:r>
            <a:r>
              <a:rPr lang="en-US" baseline="30000"/>
              <a:t>th</a:t>
            </a:r>
            <a:r>
              <a:rPr lang="en-US"/>
              <a:t> Dec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E07C4-9CF0-13E7-7FB9-CBC2DF9638F6}"/>
              </a:ext>
            </a:extLst>
          </p:cNvPr>
          <p:cNvSpPr txBox="1"/>
          <p:nvPr/>
        </p:nvSpPr>
        <p:spPr>
          <a:xfrm>
            <a:off x="74404" y="95935"/>
            <a:ext cx="882301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4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</a:rPr>
              <a:t>KEY BENEFITS AND NEXT STEPS</a:t>
            </a:r>
            <a:endParaRPr lang="en-GB" sz="3400"/>
          </a:p>
        </p:txBody>
      </p:sp>
    </p:spTree>
    <p:extLst>
      <p:ext uri="{BB962C8B-B14F-4D97-AF65-F5344CB8AC3E}">
        <p14:creationId xmlns:p14="http://schemas.microsoft.com/office/powerpoint/2010/main" val="3481650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6D2EA-6A91-B854-DBAA-D47F51D7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96C326-E904-D666-1EEC-9798E8626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AOB</a:t>
            </a:r>
          </a:p>
        </p:txBody>
      </p:sp>
    </p:spTree>
    <p:extLst>
      <p:ext uri="{BB962C8B-B14F-4D97-AF65-F5344CB8AC3E}">
        <p14:creationId xmlns:p14="http://schemas.microsoft.com/office/powerpoint/2010/main" val="8362092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stek Master 2022">
  <a:themeElements>
    <a:clrScheme name="Mastek">
      <a:dk1>
        <a:srgbClr val="424242"/>
      </a:dk1>
      <a:lt1>
        <a:srgbClr val="FFFFFF"/>
      </a:lt1>
      <a:dk2>
        <a:srgbClr val="44546A"/>
      </a:dk2>
      <a:lt2>
        <a:srgbClr val="E7E6E6"/>
      </a:lt2>
      <a:accent1>
        <a:srgbClr val="001689"/>
      </a:accent1>
      <a:accent2>
        <a:srgbClr val="0099A8"/>
      </a:accent2>
      <a:accent3>
        <a:srgbClr val="98989A"/>
      </a:accent3>
      <a:accent4>
        <a:srgbClr val="636569"/>
      </a:accent4>
      <a:accent5>
        <a:srgbClr val="F38120"/>
      </a:accent5>
      <a:accent6>
        <a:srgbClr val="EDDB00"/>
      </a:accent6>
      <a:hlink>
        <a:srgbClr val="7BADD3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ésentation11" id="{18B0FA0E-52BA-4F3F-B2FD-88B4C8061DF8}" vid="{6634CB38-2CA3-42B5-9F43-E11F89D9B245}"/>
    </a:ext>
  </a:extLst>
</a:theme>
</file>

<file path=ppt/theme/theme2.xml><?xml version="1.0" encoding="utf-8"?>
<a:theme xmlns:a="http://schemas.openxmlformats.org/drawingml/2006/main" name="Tema do Office">
  <a:themeElements>
    <a:clrScheme name="Capgemini 2021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2B0A3D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pgemini 2021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2B0A3D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F02FD0FBD30841AE0AA14F70156B46" ma:contentTypeVersion="7" ma:contentTypeDescription="Create a new document." ma:contentTypeScope="" ma:versionID="763dcdc7d30647d093db10a9ef025230">
  <xsd:schema xmlns:xsd="http://www.w3.org/2001/XMLSchema" xmlns:xs="http://www.w3.org/2001/XMLSchema" xmlns:p="http://schemas.microsoft.com/office/2006/metadata/properties" xmlns:ns2="67fc6253-dae1-4186-8095-e593ef27b542" targetNamespace="http://schemas.microsoft.com/office/2006/metadata/properties" ma:root="true" ma:fieldsID="39225522c3704af58ce7cade7151e5cd" ns2:_="">
    <xsd:import namespace="67fc6253-dae1-4186-8095-e593ef27b5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fc6253-dae1-4186-8095-e593ef27b5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B09ECE-D1C0-42A5-B69E-8C88764DB9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BDA484-B847-4A78-BC77-E27F170F9D36}">
  <ds:schemaRefs>
    <ds:schemaRef ds:uri="67fc6253-dae1-4186-8095-e593ef27b54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765F6DA-EDFD-4C3F-B2EB-EDE359E124E2}">
  <ds:schemaRefs>
    <ds:schemaRef ds:uri="67fc6253-dae1-4186-8095-e593ef27b54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dd1c500-a6d7-4dbd-b890-7f8cb6f7d861}" enabled="0" method="" siteId="{add1c500-a6d7-4dbd-b890-7f8cb6f7d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Capgemini Master 2021</Template>
  <TotalTime>0</TotalTime>
  <Application>Microsoft Office PowerPoint</Application>
  <PresentationFormat>Widescreen</PresentationFormat>
  <Slides>26</Slides>
  <Notes>25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Mastek Master 2022</vt:lpstr>
      <vt:lpstr>Inhealth</vt:lpstr>
      <vt:lpstr>Agenda</vt:lpstr>
      <vt:lpstr>Agenda</vt:lpstr>
      <vt:lpstr>EXECUTIVE SUMMARY</vt:lpstr>
      <vt:lpstr>Architecture Overview </vt:lpstr>
      <vt:lpstr>Architecture Overview </vt:lpstr>
      <vt:lpstr>Architecture Overview </vt:lpstr>
      <vt:lpstr>Architecture Overview </vt:lpstr>
      <vt:lpstr> Key Migration Streams</vt:lpstr>
      <vt:lpstr>Architecture Overview </vt:lpstr>
      <vt:lpstr> Programme-by-programme migration</vt:lpstr>
      <vt:lpstr>  Cutover Plan (Per Programme) AND rOLLBACK</vt:lpstr>
      <vt:lpstr>Application ModerniSation</vt:lpstr>
      <vt:lpstr>Security, Compliance &amp; Governance</vt:lpstr>
      <vt:lpstr>Disaster Recovery &amp; Operational Model </vt:lpstr>
      <vt:lpstr>PowerPoint Presentation</vt:lpstr>
      <vt:lpstr>AZURE SIZING AND COSTING</vt:lpstr>
      <vt:lpstr>PowerPoint Presentation</vt:lpstr>
      <vt:lpstr>Cost Optimisation Options </vt:lpstr>
      <vt:lpstr>Cost Optimisation Options </vt:lpstr>
      <vt:lpstr>Cost Optimisation Options </vt:lpstr>
      <vt:lpstr>Cost Optimisation Options </vt:lpstr>
      <vt:lpstr>Cost Optimisation Options </vt:lpstr>
      <vt:lpstr>PowerPoint Presentation</vt:lpstr>
      <vt:lpstr>PowerPoint Presentation</vt:lpstr>
      <vt:lpstr>AOB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         Template</dc:title>
  <dc:subject>Capgemini template</dc:subject>
  <dc:creator>Ajoy Das</dc:creator>
  <cp:revision>1</cp:revision>
  <dcterms:created xsi:type="dcterms:W3CDTF">2022-05-18T22:18:14Z</dcterms:created>
  <dcterms:modified xsi:type="dcterms:W3CDTF">2025-12-02T14:21:53Z</dcterms:modified>
  <cp:category>Company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0x01010090F02FD0FBD30841AE0AA14F70156B46</vt:lpwstr>
  </property>
  <property fmtid="{D5CDD505-2E9C-101B-9397-08002B2CF9AE}" pid="3" name="MediaServiceImageTags">
    <vt:lpwstr/>
  </property>
</Properties>
</file>